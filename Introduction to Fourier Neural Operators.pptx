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85D4-2DE2-E478-CCB1-30FF81E0D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C8863-DD15-970C-D7B4-F11BE3EF5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3F08B-9961-A91B-03A2-C5400D2DF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312CE-36BF-6B09-BF7F-B799E033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6FD8C-BDDC-E168-4F8F-50FF8EA0B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891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6A37-CB8F-F0EF-F3FD-87E1F5C6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9FEA0-E0E8-8D07-7082-8DD39AF60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9FAC9-8019-0263-C776-9961C0B0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E9A73-39F9-C751-A9DA-58214F143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FB589-BCE3-9BAD-5633-D199C65E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41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B9BF-BB44-D2E7-8ED7-DAE38D01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4545B-1BF6-792F-25A6-C97A18104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05786-0949-5155-BC2F-F4B762675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ABF03-4A29-5FE2-E67C-737E0A7E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99FFF-DFC9-C252-8042-13CF0BC6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26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060C-3248-BC7F-2DCF-C5FE1DBB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5EBEE-B8AF-D317-F174-35498865F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56308-0BC8-0E84-D89E-1158B5DD9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30888-4195-9F0E-5A90-A279D822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F6311-D735-C2EC-1DC7-E0E526C6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6BDC6-A181-9B01-82FC-5E173A4F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93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04E2-9D9B-5FDC-399D-88B00EE71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831AA-C365-7008-FA6A-7CD84ACC4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CAB27-2A3E-3D70-77BE-3C1D306AF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02E6B-A142-961E-4A6D-C77117EDC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6B007-9E24-1321-3E64-BEDA24572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FCD2D-D8F1-88ED-41B6-02D18D7A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C74B7-9B40-4D86-585F-CD244321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00BAA-8C37-1B30-D770-03158E97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25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3696-68FF-CA7C-4DA7-6ED36FC06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BE6F1-7097-BAFF-53D5-32720D0A7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33234-AADB-6607-DA4E-E6B77691D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1933B-9A30-8745-6B41-F54210151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101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C98DA-3333-0CE9-F8D3-2123DD91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26905-042E-8D60-EC60-040BCA7CF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1A47E-DD57-965E-687C-71BE1CE2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138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C0FD-217B-BA17-45B5-1969E023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68D73-CC7D-24F6-C220-E7E406E55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26BE7-B9DE-C5D4-FDA0-2014BB9E3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B5C1E-6825-F859-59E3-3D203162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C28F1-6DF5-282A-5754-F6865B3BA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510E0-5FBE-FAD3-6751-B78DB7BB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80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43DB-9712-709D-D969-E358C4E16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92601-C0E1-ECBE-095B-98773F923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607A3-D5EB-579D-D30C-0D3320576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8D318-472C-ACFE-8C82-864509B34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673F0-33E5-9F56-A55B-CB1FCC53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05ABD-E1C5-EC21-B6D2-F3B13549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6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1397E-BF7E-FBC7-F2D3-C5EEB593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F5E84-6108-4C67-7033-E080614F6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E8BE-96D6-1334-ED04-EC0F132C9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0B377-5673-797B-DE17-DD8B46DD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C582-2168-F461-DFD9-05E5CA92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57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58A2AD-F184-0886-8EFB-F6018A52C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F820A-C82F-44AE-15D1-9F2DE8571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FCA39-C105-3F51-DA79-59450FAB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59099-FF09-8838-F5D1-5245E18C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827B8-8BB0-7FA1-B8BF-DE0FF392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85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79AA7-FFF2-DE72-B30B-593A08D3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3B067-901D-372A-8204-8C088599A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965D2-778E-636C-A426-E6959C367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C4D6D-7B17-4400-98B8-AADC2EEC46BB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9EA8B-8275-BCD7-5174-08EAAC33F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AD39C-67AB-787A-0D2F-55AF52665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D67185-CBCE-40D2-BE64-FD76A9719F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712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634A6-9438-B16C-0F1A-BA2754427A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Introduction to Fourier Neural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EBDD6-7308-EC22-3571-E7941BEC09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Hilary Wu</a:t>
            </a:r>
          </a:p>
        </p:txBody>
      </p:sp>
    </p:spTree>
    <p:extLst>
      <p:ext uri="{BB962C8B-B14F-4D97-AF65-F5344CB8AC3E}">
        <p14:creationId xmlns:p14="http://schemas.microsoft.com/office/powerpoint/2010/main" val="1140370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1482-DD7B-EC8C-F785-41EC64211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driven discovery of PDEs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4654C7-3E3C-FEE8-CEBA-452F8EFBE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Navier-Stokes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Estimate true values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/>
                  <a:t> using PINN:</a:t>
                </a:r>
              </a:p>
              <a:p>
                <a:pPr lvl="1"/>
                <a:r>
                  <a:rPr lang="en-US" b="0" dirty="0"/>
                  <a:t>5000 data points</a:t>
                </a:r>
              </a:p>
              <a:p>
                <a:pPr lvl="1"/>
                <a:r>
                  <a:rPr lang="en-US" dirty="0"/>
                  <a:t>200000 epochs using Adam optimizer</a:t>
                </a:r>
              </a:p>
              <a:p>
                <a:pPr lvl="1"/>
                <a:r>
                  <a:rPr lang="en-US" b="0" dirty="0"/>
                  <a:t>50000 </a:t>
                </a:r>
                <a:r>
                  <a:rPr lang="en-US" dirty="0"/>
                  <a:t>iterations</a:t>
                </a:r>
                <a:r>
                  <a:rPr lang="en-US" b="0" dirty="0"/>
                  <a:t> using L-BFGS optimizer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4654C7-3E3C-FEE8-CEBA-452F8EFBE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4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B00EA5-C082-A8D4-58AF-3489AEE75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177" y="431508"/>
            <a:ext cx="6377646" cy="29974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66E703-A7A6-2CAB-A6EB-FC33117C1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177" y="3429000"/>
            <a:ext cx="6377642" cy="299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8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5BBD-5869-24DE-7124-0C83E376D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56896D-323D-746A-5C7C-EFAAC7F5AC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GB" dirty="0"/>
                  <a:t> hours of training time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if we want to predict a solution to the Navier-Stokes equation using the same parameters but different initial/boundary conditions?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56896D-323D-746A-5C7C-EFAAC7F5A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9CE4BA8-F107-22B1-3340-05DC2577C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4787857"/>
                  </p:ext>
                </p:extLst>
              </p:nvPr>
            </p:nvGraphicFramePr>
            <p:xfrm>
              <a:off x="2032000" y="2466579"/>
              <a:ext cx="8128000" cy="1371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9168872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279135350"/>
                        </a:ext>
                      </a:extLst>
                    </a:gridCol>
                    <a:gridCol w="2126776">
                      <a:extLst>
                        <a:ext uri="{9D8B030D-6E8A-4147-A177-3AD203B41FA5}">
                          <a16:colId xmlns:a16="http://schemas.microsoft.com/office/drawing/2014/main" val="4279523607"/>
                        </a:ext>
                      </a:extLst>
                    </a:gridCol>
                    <a:gridCol w="1937224">
                      <a:extLst>
                        <a:ext uri="{9D8B030D-6E8A-4147-A177-3AD203B41FA5}">
                          <a16:colId xmlns:a16="http://schemas.microsoft.com/office/drawing/2014/main" val="2913503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Parameters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True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Predicted value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Relative error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0062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0.99713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0.29%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22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0.01101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84187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9CE4BA8-F107-22B1-3340-05DC2577C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4787857"/>
                  </p:ext>
                </p:extLst>
              </p:nvPr>
            </p:nvGraphicFramePr>
            <p:xfrm>
              <a:off x="2032000" y="2466579"/>
              <a:ext cx="8128000" cy="1371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9168872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279135350"/>
                        </a:ext>
                      </a:extLst>
                    </a:gridCol>
                    <a:gridCol w="2126776">
                      <a:extLst>
                        <a:ext uri="{9D8B030D-6E8A-4147-A177-3AD203B41FA5}">
                          <a16:colId xmlns:a16="http://schemas.microsoft.com/office/drawing/2014/main" val="4279523607"/>
                        </a:ext>
                      </a:extLst>
                    </a:gridCol>
                    <a:gridCol w="1937224">
                      <a:extLst>
                        <a:ext uri="{9D8B030D-6E8A-4147-A177-3AD203B41FA5}">
                          <a16:colId xmlns:a16="http://schemas.microsoft.com/office/drawing/2014/main" val="291350331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Parameters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True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Predicted value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Relative error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006235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t="-107895" r="-299701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0.99713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0.29%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2247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210667" r="-299701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0.01101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84187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4695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672B-E4D2-3358-E996-FE0C9732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Neural Operators (FNOs)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D22110-4050-F9CA-5297-2CED41CB49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Train a solution operator for a whole family of PDEs</a:t>
                </a:r>
              </a:p>
              <a:p>
                <a:r>
                  <a:rPr lang="en-GB" dirty="0"/>
                  <a:t>Model learns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𝒰</m:t>
                    </m:r>
                  </m:oMath>
                </a14:m>
                <a:endParaRPr lang="en-GB" dirty="0"/>
              </a:p>
              <a:p>
                <a:r>
                  <a:rPr lang="en-GB" dirty="0"/>
                  <a:t>Combines linear global integral operators and non-linear local activation functions</a:t>
                </a:r>
              </a:p>
              <a:p>
                <a:endParaRPr lang="en-GB" dirty="0"/>
              </a:p>
              <a:p>
                <a:r>
                  <a:rPr lang="en-GB" dirty="0"/>
                  <a:t>Assuming translational invariance</a:t>
                </a:r>
              </a:p>
              <a:p>
                <a:r>
                  <a:rPr lang="en-GB" dirty="0"/>
                  <a:t>Model integral operator as </a:t>
                </a:r>
                <a:r>
                  <a:rPr lang="en-US" b="0" dirty="0"/>
                  <a:t>convolution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dirty="0"/>
                  <a:t> work in Fourier space</a:t>
                </a:r>
              </a:p>
              <a:p>
                <a:r>
                  <a:rPr lang="en-US" dirty="0"/>
                  <a:t>Use Fast Fourier Transform (FFT):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D22110-4050-F9CA-5297-2CED41CB49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60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AE36-953F-67DC-4290-6F1F74965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 level architecture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48370B-BFEB-97A6-8784-4BB58F89E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/>
                  <a:t>Start from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GB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/>
                  <a:t>Lift to higher dimension channel space by neural network </a:t>
                </a:r>
                <a:r>
                  <a:rPr lang="en-GB" i="1" dirty="0"/>
                  <a:t>P</a:t>
                </a:r>
                <a:endParaRPr lang="en-GB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/>
                  <a:t>Apply multiple layers of integral operators and activation functions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/>
                  <a:t>Project back to target dimension by neural network </a:t>
                </a:r>
                <a:r>
                  <a:rPr lang="en-GB" i="1" dirty="0"/>
                  <a:t>Q</a:t>
                </a:r>
                <a:endParaRPr lang="en-GB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𝒰</m:t>
                    </m:r>
                  </m:oMath>
                </a14:m>
                <a:endParaRPr lang="en-US" b="0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GB" i="1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GB" i="1" dirty="0"/>
              </a:p>
              <a:p>
                <a:pPr marL="457200" lvl="1" indent="0">
                  <a:buNone/>
                </a:pPr>
                <a:endParaRPr lang="en-GB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48370B-BFEB-97A6-8784-4BB58F89E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168CD3F-1DC5-5A5A-DABD-7A5FA07EF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505" y="4341406"/>
            <a:ext cx="9442990" cy="89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3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1291-CD5E-E49D-83FE-EABAC9E75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254A6A-3C6C-4425-CCD2-11E04B6A73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Iterative update scheme: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Global path (Fourier integral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GB" dirty="0"/>
                  <a:t>):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·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ℱ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Truncate Fourier modes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b="0" dirty="0"/>
                  <a:t> to suppress noise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254A6A-3C6C-4425-CCD2-11E04B6A7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938ED08-44F9-72E6-2ED8-4EEE684D2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031" y="2870219"/>
            <a:ext cx="6027937" cy="140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0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D89CD-59EE-B965-396A-B34E46AA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Improvements on PDE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691E7-091A-E07F-9F3E-6E744DA60C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Burgers’ Equation:</a:t>
                </a:r>
              </a:p>
              <a:p>
                <a:pPr lvl="1"/>
                <a:r>
                  <a:rPr lang="en-US" dirty="0"/>
                  <a:t>30% lower error rate</a:t>
                </a:r>
              </a:p>
              <a:p>
                <a:pPr lvl="1"/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Darcy Flow:</a:t>
                </a:r>
              </a:p>
              <a:p>
                <a:pPr lvl="1"/>
                <a:r>
                  <a:rPr lang="en-US" b="0" dirty="0"/>
                  <a:t>60% lower error rate</a:t>
                </a:r>
                <a:endParaRPr lang="en-US" dirty="0"/>
              </a:p>
              <a:p>
                <a:pPr lvl="1"/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Navier-Stokes:</a:t>
                </a:r>
              </a:p>
              <a:p>
                <a:pPr lvl="1"/>
                <a:r>
                  <a:rPr lang="en-US" b="0" dirty="0"/>
                  <a:t>30% lower error rate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&lt;1%</m:t>
                    </m:r>
                  </m:oMath>
                </a14:m>
                <a:r>
                  <a:rPr lang="en-US" b="0" dirty="0"/>
                  <a:t> error with Reynolds number 1000</a:t>
                </a:r>
              </a:p>
              <a:p>
                <a:pPr lvl="1"/>
                <a:r>
                  <a:rPr lang="en-US" dirty="0"/>
                  <a:t>8% error with Reynolds number 10000</a:t>
                </a:r>
                <a:endParaRPr lang="en-US" b="0" dirty="0"/>
              </a:p>
              <a:p>
                <a:pPr lvl="1"/>
                <a:endParaRPr lang="en-US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691E7-091A-E07F-9F3E-6E744DA60C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8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27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A1AE-B41D-E626-555B-7A6BB577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to Navier-Stokes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DA808C-F41B-2F50-9452-D537DB62B9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Estimate the solution to Navier-Stokes equation given sparse data in spatial and time domains</a:t>
                </a:r>
              </a:p>
              <a:p>
                <a:pPr lvl="1"/>
                <a:r>
                  <a:rPr lang="en-US" b="0" dirty="0"/>
                  <a:t>Fix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, </a:t>
                </a:r>
                <a:r>
                  <a:rPr lang="en-US" b="0" dirty="0" err="1"/>
                  <a:t>parameterise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Spatial resolution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64 ×64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Time domain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0,10</m:t>
                        </m:r>
                      </m:e>
                    </m:d>
                  </m:oMath>
                </a14:m>
                <a:r>
                  <a:rPr lang="en-US" dirty="0"/>
                  <a:t> in 20 steps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DA808C-F41B-2F50-9452-D537DB62B9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04C3B80-5177-9ED3-2E05-53E7D6A9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102" y="4001294"/>
            <a:ext cx="8173796" cy="2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6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A4D2-E2B8-981F-7057-44CCDAFD2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1F5AC4-D405-4ACC-BFA3-431E07A37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Spectral analysis</a:t>
                </a:r>
              </a:p>
              <a:p>
                <a:pPr lvl="1"/>
                <a:r>
                  <a:rPr lang="en-GB" dirty="0"/>
                  <a:t>Truncation of Fourier modes does not limit number of modes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Activatio</a:t>
                </a:r>
                <a:r>
                  <a:rPr lang="en-US" dirty="0"/>
                  <a:t>n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b="0" dirty="0"/>
                  <a:t> and decoder </a:t>
                </a:r>
                <a:r>
                  <a:rPr lang="en-US" b="0" i="1" dirty="0"/>
                  <a:t>Q</a:t>
                </a:r>
                <a:r>
                  <a:rPr lang="en-US" b="0" dirty="0"/>
                  <a:t> can recover high frequency modes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b="0" dirty="0"/>
                  <a:t>, truncating analytic solution to </a:t>
                </a:r>
                <a:r>
                  <a:rPr lang="en-US" dirty="0"/>
                  <a:t>20 modes </a:t>
                </a:r>
                <a:r>
                  <a:rPr lang="en-US" b="0" dirty="0"/>
                  <a:t>gives 2% error</a:t>
                </a:r>
              </a:p>
              <a:p>
                <a:pPr lvl="1"/>
                <a:r>
                  <a:rPr lang="en-US" dirty="0"/>
                  <a:t>FNO recovers solution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≤1%</m:t>
                    </m:r>
                  </m:oMath>
                </a14:m>
                <a:r>
                  <a:rPr lang="en-US" b="0" dirty="0"/>
                  <a:t> error when only using 12 modes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Zero-shot super-resolution</a:t>
                </a:r>
              </a:p>
              <a:p>
                <a:pPr lvl="1"/>
                <a:r>
                  <a:rPr lang="en-US" dirty="0"/>
                  <a:t>FNO can identify high frequency patterns</a:t>
                </a:r>
              </a:p>
              <a:p>
                <a:pPr lvl="1"/>
                <a:r>
                  <a:rPr lang="en-GB" dirty="0"/>
                  <a:t>Train operator on low resolution data and evaluate at a higher resolution</a:t>
                </a:r>
              </a:p>
              <a:p>
                <a:pPr lvl="1"/>
                <a:r>
                  <a:rPr lang="en-GB" dirty="0"/>
                  <a:t>Trained FNO-3D model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64 ×64 ×20</m:t>
                    </m:r>
                  </m:oMath>
                </a14:m>
                <a:r>
                  <a:rPr lang="en-US" b="0" dirty="0"/>
                  <a:t> resolution data</a:t>
                </a:r>
              </a:p>
              <a:p>
                <a:pPr lvl="1"/>
                <a:r>
                  <a:rPr lang="en-US" dirty="0"/>
                  <a:t>Able to transfer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256 ×256 ×80 </m:t>
                    </m:r>
                  </m:oMath>
                </a14:m>
                <a:r>
                  <a:rPr lang="en-US" b="0" dirty="0"/>
                  <a:t>resolution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1F5AC4-D405-4ACC-BFA3-431E07A37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361" b="-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94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D6AA-95D3-338C-D58D-CA0AEFB2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5EC6E-152F-CFB3-7CC6-E9676A2179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Non-periodic boundary conditions</a:t>
                </a:r>
              </a:p>
              <a:p>
                <a:pPr lvl="1"/>
                <a:r>
                  <a:rPr lang="en-US" dirty="0"/>
                  <a:t>Traditional Fourier methods only work with periodic boundary conditions</a:t>
                </a:r>
              </a:p>
              <a:p>
                <a:pPr lvl="1"/>
                <a:r>
                  <a:rPr lang="en-US" dirty="0"/>
                  <a:t>Linear transform </a:t>
                </a:r>
                <a:r>
                  <a:rPr lang="en-US" i="1" dirty="0"/>
                  <a:t>W</a:t>
                </a:r>
                <a:r>
                  <a:rPr lang="en-US" dirty="0"/>
                  <a:t> in the local path of Fourier layers enforces non-periodicity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Bayesian Inverse Problems</a:t>
                </a:r>
              </a:p>
              <a:p>
                <a:pPr lvl="1"/>
                <a:r>
                  <a:rPr lang="en-US" b="0" dirty="0"/>
                  <a:t>Inferring parameters from observed data while quantifying uncertainty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2.5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→0.005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</a:t>
                </a:r>
                <a:r>
                  <a:rPr lang="en-US" b="0" dirty="0"/>
                  <a:t>per evaluation using FNO compared to pseudo-spectral methods</a:t>
                </a:r>
              </a:p>
              <a:p>
                <a:pPr lvl="1"/>
                <a:r>
                  <a:rPr lang="en-US" dirty="0"/>
                  <a:t>Total training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hrs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→2.5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FNO can predict solutions for different initial conditions and observations</a:t>
                </a:r>
                <a:endParaRPr lang="en-US" b="0" dirty="0"/>
              </a:p>
              <a:p>
                <a:pPr marL="457200" lvl="1" indent="0">
                  <a:buNone/>
                </a:pPr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5EC6E-152F-CFB3-7CC6-E9676A217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53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C9E4-C1D5-885B-5163-F4FF4B83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Thank for listening</a:t>
            </a:r>
          </a:p>
        </p:txBody>
      </p:sp>
    </p:spTree>
    <p:extLst>
      <p:ext uri="{BB962C8B-B14F-4D97-AF65-F5344CB8AC3E}">
        <p14:creationId xmlns:p14="http://schemas.microsoft.com/office/powerpoint/2010/main" val="352031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480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Cambria Math</vt:lpstr>
      <vt:lpstr>Times New Roman</vt:lpstr>
      <vt:lpstr>Office Theme</vt:lpstr>
      <vt:lpstr>Introduction to Fourier Neural Operators</vt:lpstr>
      <vt:lpstr>Data driven discovery of PDEs</vt:lpstr>
      <vt:lpstr>PowerPoint Presentation</vt:lpstr>
      <vt:lpstr>Results</vt:lpstr>
      <vt:lpstr>Fourier Neural Operators (FNOs)</vt:lpstr>
      <vt:lpstr>High level architecture</vt:lpstr>
      <vt:lpstr>Fourier layers</vt:lpstr>
      <vt:lpstr>Improvements on PDE solutions</vt:lpstr>
      <vt:lpstr>Application to Navier-Stokes</vt:lpstr>
      <vt:lpstr>Use cases</vt:lpstr>
      <vt:lpstr>Use cases</vt:lpstr>
      <vt:lpstr>Thank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Hilary H M</dc:creator>
  <cp:lastModifiedBy>Wu, Hilary H M</cp:lastModifiedBy>
  <cp:revision>4</cp:revision>
  <dcterms:created xsi:type="dcterms:W3CDTF">2026-06-30T05:33:02Z</dcterms:created>
  <dcterms:modified xsi:type="dcterms:W3CDTF">2026-07-01T13:45:17Z</dcterms:modified>
</cp:coreProperties>
</file>