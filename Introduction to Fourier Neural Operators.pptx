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58" r:id="rId5"/>
    <p:sldId id="260" r:id="rId6"/>
    <p:sldId id="261" r:id="rId7"/>
    <p:sldId id="262" r:id="rId8"/>
    <p:sldId id="266" r:id="rId9"/>
    <p:sldId id="263" r:id="rId10"/>
    <p:sldId id="264" r:id="rId11"/>
    <p:sldId id="265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6" autoAdjust="0"/>
    <p:restoredTop sz="94660"/>
  </p:normalViewPr>
  <p:slideViewPr>
    <p:cSldViewPr snapToGrid="0">
      <p:cViewPr varScale="1">
        <p:scale>
          <a:sx n="70" d="100"/>
          <a:sy n="70" d="100"/>
        </p:scale>
        <p:origin x="525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1285D4-2DE2-E478-CCB1-30FF81E0DE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FDC8863-DD15-970C-D7B4-F11BE3EF5B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3F08B-9961-A91B-03A2-C5400D2DF9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5C4D6D-7B17-4400-98B8-AADC2EEC46BB}" type="datetimeFigureOut">
              <a:rPr lang="en-GB" smtClean="0"/>
              <a:t>01/07/2026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0312CE-36BF-6B09-BF7F-B799E0337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46FD8C-BDDC-E168-4F8F-50FF8EA0BA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D67185-CBCE-40D2-BE64-FD76A9719F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38910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3B6A37-CB8F-F0EF-F3FD-87E1F5C6A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19FEA0-E0E8-8D07-7082-8DD39AF60C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79FAC9-8019-0263-C776-9961C0B002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5C4D6D-7B17-4400-98B8-AADC2EEC46BB}" type="datetimeFigureOut">
              <a:rPr lang="en-GB" smtClean="0"/>
              <a:t>01/07/2026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8E9A73-39F9-C751-A9DA-58214F1437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FFB589-BCE3-9BAD-5633-D199C65E0E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D67185-CBCE-40D2-BE64-FD76A9719F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114192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87B9BF-BB44-D2E7-8ED7-DAE38D01C1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84545B-1BF6-792F-25A6-C97A181049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E05786-0949-5155-BC2F-F4B7626751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5C4D6D-7B17-4400-98B8-AADC2EEC46BB}" type="datetimeFigureOut">
              <a:rPr lang="en-GB" smtClean="0"/>
              <a:t>01/07/2026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BABF03-4A29-5FE2-E67C-737E0A7E0F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B99FFF-DFC9-C252-8042-13CF0BC650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D67185-CBCE-40D2-BE64-FD76A9719F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12664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1D060C-3248-BC7F-2DCF-C5FE1DBB56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F5EBEE-B8AF-D317-F174-35498865FF5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A56308-0BC8-0E84-D89E-1158B5DD91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230888-4195-9F0E-5A90-A279D82289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5C4D6D-7B17-4400-98B8-AADC2EEC46BB}" type="datetimeFigureOut">
              <a:rPr lang="en-GB" smtClean="0"/>
              <a:t>01/07/2026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6F6311-D735-C2EC-1DC7-E0E526C622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06BDC6-A181-9B01-82FC-5E173A4F17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D67185-CBCE-40D2-BE64-FD76A9719F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09313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6D04E2-9D9B-5FDC-399D-88B00EE71E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2831AA-C365-7008-FA6A-7CD84ACC42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BCAB27-2A3E-3D70-77BE-3C1D306AFC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6502E6B-A142-961E-4A6D-C77117EDC83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3F6B007-9E24-1321-3E64-BEDA245721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04FCD2D-D8F1-88ED-41B6-02D18D7AE6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5C4D6D-7B17-4400-98B8-AADC2EEC46BB}" type="datetimeFigureOut">
              <a:rPr lang="en-GB" smtClean="0"/>
              <a:t>01/07/2026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EEC74B7-9B40-4D86-585F-CD244321CE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C600BAA-8C37-1B30-D770-03158E97E8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D67185-CBCE-40D2-BE64-FD76A9719F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32502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33696-68FF-CA7C-4DA7-6ED36FC066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C7BE6F1-7097-BAFF-53D5-32720D0A7B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5C4D6D-7B17-4400-98B8-AADC2EEC46BB}" type="datetimeFigureOut">
              <a:rPr lang="en-GB" smtClean="0"/>
              <a:t>01/07/2026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033234-AADB-6607-DA4E-E6B77691DE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D41933B-9A30-8745-6B41-F54210151E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D67185-CBCE-40D2-BE64-FD76A9719F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21011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15C98DA-3333-0CE9-F8D3-2123DD9131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5C4D6D-7B17-4400-98B8-AADC2EEC46BB}" type="datetimeFigureOut">
              <a:rPr lang="en-GB" smtClean="0"/>
              <a:t>01/07/2026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2F26905-042E-8D60-EC60-040BCA7CF4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51A47E-DD57-965E-687C-71BE1CE26C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D67185-CBCE-40D2-BE64-FD76A9719F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81383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1C0FD-217B-BA17-45B5-1969E02302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268D73-CC7D-24F6-C220-E7E406E558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C26BE7-B9DE-C5D4-FDA0-2014BB9E37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EB5C1E-6825-F859-59E3-3D203162DF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5C4D6D-7B17-4400-98B8-AADC2EEC46BB}" type="datetimeFigureOut">
              <a:rPr lang="en-GB" smtClean="0"/>
              <a:t>01/07/2026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7C28F1-6DF5-282A-5754-F6865B3BAB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4510E0-5FBE-FAD3-6751-B78DB7BB8F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D67185-CBCE-40D2-BE64-FD76A9719F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28090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D743DB-9712-709D-D969-E358C4E16A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E192601-C0E1-ECBE-095B-98773F9238F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C607A3-D5EB-579D-D30C-0D33205767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68D318-472C-ACFE-8C82-864509B344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5C4D6D-7B17-4400-98B8-AADC2EEC46BB}" type="datetimeFigureOut">
              <a:rPr lang="en-GB" smtClean="0"/>
              <a:t>01/07/2026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4673F0-33E5-9F56-A55B-CB1FCC535A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805ABD-E1C5-EC21-B6D2-F3B13549E1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D67185-CBCE-40D2-BE64-FD76A9719F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8619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D1397E-BF7E-FBC7-F2D3-C5EEB593C8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1BF5E84-6108-4C67-7033-E080614F60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99E8BE-96D6-1334-ED04-EC0F132C91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5C4D6D-7B17-4400-98B8-AADC2EEC46BB}" type="datetimeFigureOut">
              <a:rPr lang="en-GB" smtClean="0"/>
              <a:t>01/07/2026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90B377-5673-797B-DE17-DD8B46DDAE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C5C582-2168-F461-DFD9-05E5CA92DE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D67185-CBCE-40D2-BE64-FD76A9719F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25744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F58A2AD-F184-0886-8EFB-F6018A52C5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A3F820A-C82F-44AE-15D1-9F2DE8571E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0FCA39-C105-3F51-DA79-59450FABFF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5C4D6D-7B17-4400-98B8-AADC2EEC46BB}" type="datetimeFigureOut">
              <a:rPr lang="en-GB" smtClean="0"/>
              <a:t>01/07/2026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859099-FF09-8838-F5D1-5245E18C44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F827B8-8BB0-7FA1-B8BF-DE0FF39251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D67185-CBCE-40D2-BE64-FD76A9719F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88569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E279AA7-FFF2-DE72-B30B-593A08D354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13B067-901D-372A-8204-8C088599A3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8965D2-778E-636C-A426-E6959C36705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D5C4D6D-7B17-4400-98B8-AADC2EEC46BB}" type="datetimeFigureOut">
              <a:rPr lang="en-GB" smtClean="0"/>
              <a:t>01/07/2026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09EA8B-8275-BCD7-5174-08EAAC33FD5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5AD39C-67AB-787A-0D2F-55AF526656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D67185-CBCE-40D2-BE64-FD76A9719F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97122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Times New Roman" panose="02020603050405020304" pitchFamily="18" charset="0"/>
          <a:ea typeface="+mj-ea"/>
          <a:cs typeface="Times New Roman" panose="02020603050405020304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5634A6-9438-B16C-0F1A-BA2754427A3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Introduction to Fourier Neural Operators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E5EBDD6-7308-EC22-3571-E7941BEC09F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  <a:p>
            <a:endParaRPr lang="en-GB" dirty="0"/>
          </a:p>
          <a:p>
            <a:r>
              <a:rPr lang="en-GB" dirty="0"/>
              <a:t>Hilary Wu</a:t>
            </a:r>
          </a:p>
        </p:txBody>
      </p:sp>
    </p:spTree>
    <p:extLst>
      <p:ext uri="{BB962C8B-B14F-4D97-AF65-F5344CB8AC3E}">
        <p14:creationId xmlns:p14="http://schemas.microsoft.com/office/powerpoint/2010/main" val="11403705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9B1482-DD7B-EC8C-F785-41EC64211A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driven discovery of PDEs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24654C7-3E3C-FEE8-CEBA-452F8EFBEC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GB" dirty="0"/>
                  <a:t>Navier-Stokes Equation: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𝑥𝑥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𝑦𝑦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𝑥𝑥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𝑦𝑦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Estimate true values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b="0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b="0" dirty="0"/>
                  <a:t> using PINN:</a:t>
                </a:r>
              </a:p>
              <a:p>
                <a:pPr lvl="1"/>
                <a:r>
                  <a:rPr lang="en-US" b="0" dirty="0"/>
                  <a:t>5000 data points</a:t>
                </a:r>
              </a:p>
              <a:p>
                <a:pPr lvl="1"/>
                <a:r>
                  <a:rPr lang="en-US" dirty="0"/>
                  <a:t>200000 epochs using Adam optimizer</a:t>
                </a:r>
              </a:p>
              <a:p>
                <a:pPr lvl="1"/>
                <a:r>
                  <a:rPr lang="en-US" b="0" dirty="0"/>
                  <a:t>50000 </a:t>
                </a:r>
                <a:r>
                  <a:rPr lang="en-US" dirty="0"/>
                  <a:t>iterations</a:t>
                </a:r>
                <a:r>
                  <a:rPr lang="en-US" b="0" dirty="0"/>
                  <a:t> using L-BFGS optimizer</a:t>
                </a:r>
              </a:p>
              <a:p>
                <a:pPr marL="0" indent="0">
                  <a:buNone/>
                </a:pPr>
                <a:endParaRPr lang="en-US" b="0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24654C7-3E3C-FEE8-CEBA-452F8EFBEC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56425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3B00EA5-C082-A8D4-58AF-3489AEE759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7177" y="431508"/>
            <a:ext cx="6377646" cy="299749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D66E703-A7A6-2CAB-A6EB-FC33117C1B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7177" y="3429000"/>
            <a:ext cx="6377642" cy="2997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06875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DD5BBD-5869-24DE-7124-0C83E376D1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Results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E56896D-323D-746A-5C7C-EFAAC7F5ACC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9</m:t>
                    </m:r>
                  </m:oMath>
                </a14:m>
                <a:r>
                  <a:rPr lang="en-GB" dirty="0"/>
                  <a:t> hours of training time</a:t>
                </a:r>
              </a:p>
              <a:p>
                <a:endParaRPr lang="en-GB" dirty="0"/>
              </a:p>
              <a:p>
                <a:endParaRPr lang="en-GB" dirty="0"/>
              </a:p>
              <a:p>
                <a:endParaRPr lang="en-GB" dirty="0"/>
              </a:p>
              <a:p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What if we want to predict a solution to the Navier-Stokes equation using the same parameters but different initial/boundary conditions?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E56896D-323D-746A-5C7C-EFAAC7F5ACC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79CE4BA8-F107-22B1-3340-05DC2577C00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54787857"/>
                  </p:ext>
                </p:extLst>
              </p:nvPr>
            </p:nvGraphicFramePr>
            <p:xfrm>
              <a:off x="2032000" y="2466579"/>
              <a:ext cx="8128000" cy="137160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2032000">
                      <a:extLst>
                        <a:ext uri="{9D8B030D-6E8A-4147-A177-3AD203B41FA5}">
                          <a16:colId xmlns:a16="http://schemas.microsoft.com/office/drawing/2014/main" val="291688724"/>
                        </a:ext>
                      </a:extLst>
                    </a:gridCol>
                    <a:gridCol w="2032000">
                      <a:extLst>
                        <a:ext uri="{9D8B030D-6E8A-4147-A177-3AD203B41FA5}">
                          <a16:colId xmlns:a16="http://schemas.microsoft.com/office/drawing/2014/main" val="1279135350"/>
                        </a:ext>
                      </a:extLst>
                    </a:gridCol>
                    <a:gridCol w="2126776">
                      <a:extLst>
                        <a:ext uri="{9D8B030D-6E8A-4147-A177-3AD203B41FA5}">
                          <a16:colId xmlns:a16="http://schemas.microsoft.com/office/drawing/2014/main" val="4279523607"/>
                        </a:ext>
                      </a:extLst>
                    </a:gridCol>
                    <a:gridCol w="1937224">
                      <a:extLst>
                        <a:ext uri="{9D8B030D-6E8A-4147-A177-3AD203B41FA5}">
                          <a16:colId xmlns:a16="http://schemas.microsoft.com/office/drawing/2014/main" val="291350331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Parameters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GB" sz="24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True value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GB" sz="24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Predicted value</a:t>
                          </a:r>
                        </a:p>
                      </a:txBody>
                      <a:tcP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GB" sz="24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Relative error</a:t>
                          </a:r>
                        </a:p>
                      </a:txBody>
                      <a:tcP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71006235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GB" sz="24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GB" sz="24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0.99713</a:t>
                          </a:r>
                        </a:p>
                      </a:txBody>
                      <a:tcP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GB" sz="24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0.29%</a:t>
                          </a:r>
                        </a:p>
                      </a:txBody>
                      <a:tcP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extLst>
                      <a:ext uri="{0D108BD9-81ED-4DB2-BD59-A6C34878D82A}">
                        <a16:rowId xmlns:a16="http://schemas.microsoft.com/office/drawing/2014/main" val="5224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GB" sz="24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0.01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GB" sz="24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0.01101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4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10.07%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5841879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79CE4BA8-F107-22B1-3340-05DC2577C00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54787857"/>
                  </p:ext>
                </p:extLst>
              </p:nvPr>
            </p:nvGraphicFramePr>
            <p:xfrm>
              <a:off x="2032000" y="2466579"/>
              <a:ext cx="8128000" cy="137160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2032000">
                      <a:extLst>
                        <a:ext uri="{9D8B030D-6E8A-4147-A177-3AD203B41FA5}">
                          <a16:colId xmlns:a16="http://schemas.microsoft.com/office/drawing/2014/main" val="291688724"/>
                        </a:ext>
                      </a:extLst>
                    </a:gridCol>
                    <a:gridCol w="2032000">
                      <a:extLst>
                        <a:ext uri="{9D8B030D-6E8A-4147-A177-3AD203B41FA5}">
                          <a16:colId xmlns:a16="http://schemas.microsoft.com/office/drawing/2014/main" val="1279135350"/>
                        </a:ext>
                      </a:extLst>
                    </a:gridCol>
                    <a:gridCol w="2126776">
                      <a:extLst>
                        <a:ext uri="{9D8B030D-6E8A-4147-A177-3AD203B41FA5}">
                          <a16:colId xmlns:a16="http://schemas.microsoft.com/office/drawing/2014/main" val="4279523607"/>
                        </a:ext>
                      </a:extLst>
                    </a:gridCol>
                    <a:gridCol w="1937224">
                      <a:extLst>
                        <a:ext uri="{9D8B030D-6E8A-4147-A177-3AD203B41FA5}">
                          <a16:colId xmlns:a16="http://schemas.microsoft.com/office/drawing/2014/main" val="2913503318"/>
                        </a:ext>
                      </a:extLst>
                    </a:gridCol>
                  </a:tblGrid>
                  <a:tr h="4572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Parameters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GB" sz="24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True value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GB" sz="24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Predicted value</a:t>
                          </a:r>
                        </a:p>
                      </a:txBody>
                      <a:tcP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GB" sz="24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Relative error</a:t>
                          </a:r>
                        </a:p>
                      </a:txBody>
                      <a:tcP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710062356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blipFill>
                          <a:blip r:embed="rId3"/>
                          <a:stretch>
                            <a:fillRect t="-107895" r="-299701" b="-12894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GB" sz="24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GB" sz="24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0.99713</a:t>
                          </a:r>
                        </a:p>
                      </a:txBody>
                      <a:tcP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GB" sz="24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0.29%</a:t>
                          </a:r>
                        </a:p>
                      </a:txBody>
                      <a:tcP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extLst>
                      <a:ext uri="{0D108BD9-81ED-4DB2-BD59-A6C34878D82A}">
                        <a16:rowId xmlns:a16="http://schemas.microsoft.com/office/drawing/2014/main" val="522474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blipFill>
                          <a:blip r:embed="rId3"/>
                          <a:stretch>
                            <a:fillRect t="-210667" r="-299701" b="-30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GB" sz="24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0.01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GB" sz="24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0.01101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4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10.07%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58418797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3469571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14672B-E4D2-3358-E996-FE0C97320B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Fourier Neural Operators (FNOs)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0D22110-4050-F9CA-5297-2CED41CB496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GB" dirty="0"/>
                  <a:t>Train a solution operator for a whole family of PDEs</a:t>
                </a:r>
              </a:p>
              <a:p>
                <a:r>
                  <a:rPr lang="en-GB" dirty="0"/>
                  <a:t>Model learns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𝒜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𝒰</m:t>
                    </m:r>
                  </m:oMath>
                </a14:m>
                <a:endParaRPr lang="en-GB" dirty="0"/>
              </a:p>
              <a:p>
                <a:r>
                  <a:rPr lang="en-GB" dirty="0"/>
                  <a:t>Combines linear global integral operators and non-linear local activation functions</a:t>
                </a:r>
              </a:p>
              <a:p>
                <a:endParaRPr lang="en-GB" dirty="0"/>
              </a:p>
              <a:p>
                <a:r>
                  <a:rPr lang="en-GB" dirty="0"/>
                  <a:t>Assuming translational invariance</a:t>
                </a:r>
              </a:p>
              <a:p>
                <a:r>
                  <a:rPr lang="en-GB" dirty="0"/>
                  <a:t>Model integral operator as </a:t>
                </a:r>
                <a:r>
                  <a:rPr lang="en-US" b="0" dirty="0"/>
                  <a:t>convolution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b="0" dirty="0"/>
                  <a:t> work in Fourier space</a:t>
                </a:r>
              </a:p>
              <a:p>
                <a:r>
                  <a:rPr lang="en-US" dirty="0"/>
                  <a:t>Use Fast Fourier Transform (FFT):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𝒪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𝒪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e>
                    </m:d>
                  </m:oMath>
                </a14:m>
                <a:endParaRPr lang="en-US" b="0" dirty="0"/>
              </a:p>
              <a:p>
                <a:endParaRPr lang="en-US" b="0" dirty="0"/>
              </a:p>
              <a:p>
                <a:endParaRPr lang="en-US" b="0" dirty="0"/>
              </a:p>
              <a:p>
                <a:endParaRPr lang="en-GB" dirty="0"/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0D22110-4050-F9CA-5297-2CED41CB496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316053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0EAE36-953F-67DC-4290-6F1F749651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High level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48370B-BFEB-97A6-8784-4BB58F89EB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971550" lvl="1" indent="-514350">
              <a:buFont typeface="+mj-lt"/>
              <a:buAutoNum type="arabicPeriod"/>
            </a:pPr>
            <a:r>
              <a:rPr lang="en-GB" dirty="0"/>
              <a:t>Start from input </a:t>
            </a:r>
            <a:r>
              <a:rPr lang="en-GB" i="1" dirty="0"/>
              <a:t>a</a:t>
            </a:r>
            <a:endParaRPr lang="en-GB" dirty="0"/>
          </a:p>
          <a:p>
            <a:pPr marL="971550" lvl="1" indent="-514350">
              <a:buFont typeface="+mj-lt"/>
              <a:buAutoNum type="arabicPeriod"/>
            </a:pPr>
            <a:r>
              <a:rPr lang="en-GB" dirty="0"/>
              <a:t>Lift to higher dimension channel space by neural network </a:t>
            </a:r>
            <a:r>
              <a:rPr lang="en-GB" i="1" dirty="0"/>
              <a:t>P</a:t>
            </a:r>
            <a:endParaRPr lang="en-GB" dirty="0"/>
          </a:p>
          <a:p>
            <a:pPr marL="971550" lvl="1" indent="-514350">
              <a:buFont typeface="+mj-lt"/>
              <a:buAutoNum type="arabicPeriod"/>
            </a:pPr>
            <a:r>
              <a:rPr lang="en-GB" dirty="0"/>
              <a:t>Apply multiple layers of integral operators and activation functions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GB" dirty="0"/>
              <a:t>Project back to target dimension by neural network </a:t>
            </a:r>
            <a:r>
              <a:rPr lang="en-GB" i="1" dirty="0"/>
              <a:t>Q</a:t>
            </a:r>
            <a:endParaRPr lang="en-GB" dirty="0"/>
          </a:p>
          <a:p>
            <a:pPr marL="971550" lvl="1" indent="-514350">
              <a:buFont typeface="+mj-lt"/>
              <a:buAutoNum type="arabicPeriod"/>
            </a:pPr>
            <a:r>
              <a:rPr lang="en-GB" dirty="0"/>
              <a:t>Output </a:t>
            </a:r>
            <a:r>
              <a:rPr lang="en-GB" i="1" dirty="0"/>
              <a:t>u</a:t>
            </a:r>
          </a:p>
          <a:p>
            <a:pPr marL="971550" lvl="1" indent="-514350">
              <a:buFont typeface="+mj-lt"/>
              <a:buAutoNum type="arabicPeriod"/>
            </a:pPr>
            <a:endParaRPr lang="en-GB" i="1" dirty="0"/>
          </a:p>
          <a:p>
            <a:pPr marL="457200" lvl="1" indent="0">
              <a:buNone/>
            </a:pPr>
            <a:endParaRPr lang="en-GB" i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168CD3F-1DC5-5A5A-DABD-7A5FA07EF3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4505" y="4341406"/>
            <a:ext cx="9442990" cy="899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43330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EA1291-CD5E-E49D-83FE-EABAC9E75D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Fourier layers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254A6A-3C6C-4425-CCD2-11E04B6A731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GB" dirty="0"/>
                  <a:t>Iterative update scheme: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≔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𝒦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Global path (Fourier integral operator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𝒦</m:t>
                    </m:r>
                  </m:oMath>
                </a14:m>
                <a:r>
                  <a:rPr lang="en-GB" dirty="0"/>
                  <a:t>):</a:t>
                </a:r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𝒦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ℱ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·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ℱ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endParaRPr lang="en-GB" dirty="0"/>
              </a:p>
              <a:p>
                <a:pPr lvl="1"/>
                <a:r>
                  <a:rPr lang="en-GB" dirty="0"/>
                  <a:t>Truncate Fourier modes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lang="en-US" b="0" dirty="0"/>
                  <a:t> to suppress noise</a:t>
                </a:r>
              </a:p>
              <a:p>
                <a:pPr lvl="1"/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254A6A-3C6C-4425-CCD2-11E04B6A731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381" b="-182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>
            <a:extLst>
              <a:ext uri="{FF2B5EF4-FFF2-40B4-BE49-F238E27FC236}">
                <a16:creationId xmlns:a16="http://schemas.microsoft.com/office/drawing/2014/main" id="{9938ED08-44F9-72E6-2ED8-4EEE684D25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2031" y="2870219"/>
            <a:ext cx="6027937" cy="1401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97024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4D89CD-59EE-B965-396A-B34E46AAAF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Improvements on PDE solutions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E2691E7-091A-E07F-9F3E-6E744DA60C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b="0" dirty="0"/>
                  <a:t>Burgers’ Equation:</a:t>
                </a:r>
              </a:p>
              <a:p>
                <a:pPr lvl="1"/>
                <a:r>
                  <a:rPr lang="en-US" dirty="0"/>
                  <a:t>30% lower error rate</a:t>
                </a:r>
              </a:p>
              <a:p>
                <a:pPr lvl="1"/>
                <a:endParaRPr lang="en-US" b="0" dirty="0"/>
              </a:p>
              <a:p>
                <a:pPr marL="0" indent="0">
                  <a:buNone/>
                </a:pPr>
                <a:r>
                  <a:rPr lang="en-US" b="0" dirty="0"/>
                  <a:t>Darcy Flow:</a:t>
                </a:r>
              </a:p>
              <a:p>
                <a:pPr lvl="1"/>
                <a:r>
                  <a:rPr lang="en-US" b="0" dirty="0"/>
                  <a:t>60% lower error rate</a:t>
                </a:r>
                <a:endParaRPr lang="en-US" dirty="0"/>
              </a:p>
              <a:p>
                <a:pPr lvl="1"/>
                <a:endParaRPr lang="en-US" b="0" dirty="0"/>
              </a:p>
              <a:p>
                <a:pPr marL="0" indent="0">
                  <a:buNone/>
                </a:pPr>
                <a:r>
                  <a:rPr lang="en-US" b="0" dirty="0"/>
                  <a:t>Navier-Stokes:</a:t>
                </a:r>
              </a:p>
              <a:p>
                <a:pPr lvl="1"/>
                <a:r>
                  <a:rPr lang="en-US" b="0" dirty="0"/>
                  <a:t>30% lower error rate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&lt;1%</m:t>
                    </m:r>
                  </m:oMath>
                </a14:m>
                <a:r>
                  <a:rPr lang="en-US" b="0" dirty="0"/>
                  <a:t> error with Reynolds number 1000</a:t>
                </a:r>
              </a:p>
              <a:p>
                <a:pPr lvl="1"/>
                <a:r>
                  <a:rPr lang="en-US" dirty="0"/>
                  <a:t>8% error with Reynolds number 10000</a:t>
                </a:r>
                <a:endParaRPr lang="en-US" b="0" dirty="0"/>
              </a:p>
              <a:p>
                <a:pPr lvl="1"/>
                <a:endParaRPr lang="en-US" b="0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E2691E7-091A-E07F-9F3E-6E744DA60C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381" b="-84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322779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4EA1AE-B41D-E626-555B-7A6BB57737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Application to Navier-Stokes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5DA808C-F41B-2F50-9452-D537DB62B9E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GB" dirty="0"/>
                  <a:t>Estimate the solution to Navier-Stokes equation given sparse data in spatial and time domain</a:t>
                </a:r>
              </a:p>
              <a:p>
                <a:pPr lvl="1"/>
                <a:r>
                  <a:rPr lang="en-US" b="0" dirty="0"/>
                  <a:t>Fix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b="0" dirty="0"/>
                  <a:t>, </a:t>
                </a:r>
                <a:r>
                  <a:rPr lang="en-US" b="0" dirty="0" err="1"/>
                  <a:t>parameterise</a:t>
                </a:r>
                <a:r>
                  <a:rPr lang="en-US" b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Spatial resolution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64 ×64</m:t>
                    </m:r>
                  </m:oMath>
                </a14:m>
                <a:endParaRPr lang="en-US" dirty="0"/>
              </a:p>
              <a:p>
                <a:pPr lvl="1"/>
                <a:r>
                  <a:rPr lang="en-US" b="0" dirty="0"/>
                  <a:t>Time domain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0,10</m:t>
                        </m:r>
                      </m:e>
                    </m:d>
                  </m:oMath>
                </a14:m>
                <a:r>
                  <a:rPr lang="en-US" dirty="0"/>
                  <a:t> in 20 steps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pPr marL="457200" lvl="1" indent="0">
                  <a:buNone/>
                </a:pPr>
                <a:endParaRPr lang="en-US" b="0" dirty="0"/>
              </a:p>
              <a:p>
                <a:pPr lvl="1"/>
                <a:endParaRPr lang="en-US" b="0" dirty="0"/>
              </a:p>
              <a:p>
                <a:pPr lvl="1"/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5DA808C-F41B-2F50-9452-D537DB62B9E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204C3B80-5177-9ED3-2E05-53E7D6A92E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9102" y="4001294"/>
            <a:ext cx="8173796" cy="2119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16674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3DA4D2-E2B8-981F-7057-44CCDAFD21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Use cases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61F5AC4-D405-4ACC-BFA3-431E07A378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GB" dirty="0"/>
                  <a:t>Spectral analysis</a:t>
                </a:r>
              </a:p>
              <a:p>
                <a:pPr lvl="1"/>
                <a:r>
                  <a:rPr lang="en-GB" dirty="0"/>
                  <a:t>Truncation of Fourier modes does not limit number of modes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endParaRPr lang="en-US" b="0" dirty="0"/>
              </a:p>
              <a:p>
                <a:pPr lvl="1"/>
                <a:r>
                  <a:rPr lang="en-US" b="0" dirty="0"/>
                  <a:t>Activatio</a:t>
                </a:r>
                <a:r>
                  <a:rPr lang="en-US" dirty="0"/>
                  <a:t>n function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b="0" dirty="0"/>
                  <a:t> and decoder </a:t>
                </a:r>
                <a:r>
                  <a:rPr lang="en-US" b="0" i="1" dirty="0"/>
                  <a:t>Q</a:t>
                </a:r>
                <a:r>
                  <a:rPr lang="en-US" b="0" dirty="0"/>
                  <a:t> can recover high frequency modes</a:t>
                </a:r>
              </a:p>
              <a:p>
                <a:pPr lvl="1"/>
                <a:r>
                  <a:rPr lang="en-US" dirty="0"/>
                  <a:t>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−3</m:t>
                        </m:r>
                      </m:sup>
                    </m:sSup>
                  </m:oMath>
                </a14:m>
                <a:r>
                  <a:rPr lang="en-US" b="0" dirty="0"/>
                  <a:t>, truncating analytic solution to Navier-Stokes gives 2% error</a:t>
                </a:r>
              </a:p>
              <a:p>
                <a:pPr lvl="1"/>
                <a:r>
                  <a:rPr lang="en-US" dirty="0"/>
                  <a:t>FNO recovers solution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≤1%</m:t>
                    </m:r>
                  </m:oMath>
                </a14:m>
                <a:r>
                  <a:rPr lang="en-US" b="0" dirty="0"/>
                  <a:t> error when only using 12 modes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Zero-shot super-resolution</a:t>
                </a:r>
              </a:p>
              <a:p>
                <a:pPr lvl="1"/>
                <a:r>
                  <a:rPr lang="en-US" dirty="0"/>
                  <a:t>FNO can identify high frequency patterns</a:t>
                </a:r>
              </a:p>
              <a:p>
                <a:pPr lvl="1"/>
                <a:r>
                  <a:rPr lang="en-GB" dirty="0"/>
                  <a:t>Train operator on low resolution data and evaluate at a higher resolution</a:t>
                </a:r>
              </a:p>
              <a:p>
                <a:pPr lvl="1"/>
                <a:r>
                  <a:rPr lang="en-GB" dirty="0"/>
                  <a:t>Trained FNO-3D model 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64 ×64 ×20</m:t>
                    </m:r>
                  </m:oMath>
                </a14:m>
                <a:r>
                  <a:rPr lang="en-US" b="0" dirty="0"/>
                  <a:t> resolution data</a:t>
                </a:r>
              </a:p>
              <a:p>
                <a:pPr lvl="1"/>
                <a:r>
                  <a:rPr lang="en-US" dirty="0"/>
                  <a:t>Able to transfer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256 ×256 ×80 </m:t>
                    </m:r>
                  </m:oMath>
                </a14:m>
                <a:r>
                  <a:rPr lang="en-US" b="0" dirty="0"/>
                  <a:t>resolution</a:t>
                </a:r>
              </a:p>
              <a:p>
                <a:pPr lvl="1"/>
                <a:endParaRPr lang="en-US" b="0" dirty="0"/>
              </a:p>
              <a:p>
                <a:pPr lvl="1"/>
                <a:endParaRPr lang="en-US" b="0" dirty="0"/>
              </a:p>
              <a:p>
                <a:pPr lvl="1"/>
                <a:endParaRPr lang="en-US" b="0" dirty="0"/>
              </a:p>
              <a:p>
                <a:pPr lvl="1"/>
                <a:endParaRPr lang="en-US" b="0" dirty="0"/>
              </a:p>
              <a:p>
                <a:pPr lvl="1"/>
                <a:endParaRPr lang="en-US" b="0" dirty="0"/>
              </a:p>
              <a:p>
                <a:pPr lvl="1"/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61F5AC4-D405-4ACC-BFA3-431E07A378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3361" b="-14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809498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B7D6AA-95D3-338C-D58D-CA0AEFB21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Use cases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8A5EC6E-152F-CFB3-7CC6-E9676A2179F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Non-periodic boundary conditions</a:t>
                </a:r>
              </a:p>
              <a:p>
                <a:pPr lvl="1"/>
                <a:r>
                  <a:rPr lang="en-US" dirty="0"/>
                  <a:t>Traditional Fourier methods only work with periodic boundary conditions</a:t>
                </a:r>
              </a:p>
              <a:p>
                <a:pPr lvl="1"/>
                <a:r>
                  <a:rPr lang="en-US" dirty="0"/>
                  <a:t>Linear transform </a:t>
                </a:r>
                <a:r>
                  <a:rPr lang="en-US" i="1" dirty="0"/>
                  <a:t>W</a:t>
                </a:r>
                <a:r>
                  <a:rPr lang="en-US" dirty="0"/>
                  <a:t> in the local path of Fourier layers enforces non-periodicity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Bayesian Inverse Problems</a:t>
                </a:r>
              </a:p>
              <a:p>
                <a:pPr lvl="1"/>
                <a:r>
                  <a:rPr lang="en-US" b="0" dirty="0"/>
                  <a:t>Inferring parameters from observed data while quantifying uncertainty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2.5</m:t>
                    </m:r>
                    <m:r>
                      <m:rPr>
                        <m:nor/>
                      </m:rPr>
                      <a:rPr lang="en-US" b="0" i="0" smtClean="0">
                        <a:latin typeface="Cambria Math" panose="02040503050406030204" pitchFamily="18" charset="0"/>
                      </a:rPr>
                      <m:t>s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→0.005</m:t>
                    </m:r>
                    <m:r>
                      <m:rPr>
                        <m:nor/>
                      </m:rPr>
                      <a:rPr lang="en-US" b="0" i="0" smtClean="0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en-US" dirty="0"/>
                  <a:t> </a:t>
                </a:r>
                <a:r>
                  <a:rPr lang="en-US" b="0" dirty="0"/>
                  <a:t>per evaluation using FNO compared to pseudo-spectral methods</a:t>
                </a:r>
              </a:p>
              <a:p>
                <a:pPr lvl="1"/>
                <a:r>
                  <a:rPr lang="en-US" dirty="0"/>
                  <a:t>Total training time: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18</m:t>
                    </m:r>
                    <m:r>
                      <m:rPr>
                        <m:nor/>
                      </m:rPr>
                      <a:rPr lang="en-US" b="0" i="0" smtClean="0">
                        <a:latin typeface="Cambria Math" panose="02040503050406030204" pitchFamily="18" charset="0"/>
                      </a:rPr>
                      <m:t>hrs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→2.5</m:t>
                    </m:r>
                    <m:r>
                      <m:rPr>
                        <m:nor/>
                      </m:rPr>
                      <a:rPr lang="en-US" b="0" i="0" smtClean="0">
                        <a:latin typeface="Cambria Math" panose="02040503050406030204" pitchFamily="18" charset="0"/>
                      </a:rPr>
                      <m:t>mins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FNO can predict solutions for different initial conditions and observations</a:t>
                </a:r>
                <a:endParaRPr lang="en-US" b="0" dirty="0"/>
              </a:p>
              <a:p>
                <a:pPr marL="457200" lvl="1" indent="0">
                  <a:buNone/>
                </a:pPr>
                <a:endParaRPr lang="en-US" b="0" dirty="0"/>
              </a:p>
              <a:p>
                <a:pPr marL="457200" lvl="1" indent="0">
                  <a:buNone/>
                </a:pPr>
                <a:endParaRPr lang="en-US" dirty="0"/>
              </a:p>
              <a:p>
                <a:pPr marL="457200" lvl="1" indent="0">
                  <a:buNone/>
                </a:pPr>
                <a:endParaRPr lang="en-US" b="0" dirty="0"/>
              </a:p>
              <a:p>
                <a:pPr lvl="1"/>
                <a:endParaRPr lang="en-US" b="0" dirty="0"/>
              </a:p>
              <a:p>
                <a:pPr lvl="1"/>
                <a:endParaRPr lang="en-US" b="0" dirty="0"/>
              </a:p>
              <a:p>
                <a:pPr lvl="1"/>
                <a:endParaRPr lang="en-US" b="0" dirty="0"/>
              </a:p>
              <a:p>
                <a:pPr lvl="1"/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8A5EC6E-152F-CFB3-7CC6-E9676A2179F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235315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405</TotalTime>
  <Words>472</Words>
  <Application>Microsoft Office PowerPoint</Application>
  <PresentationFormat>Widescreen</PresentationFormat>
  <Paragraphs>109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Arial</vt:lpstr>
      <vt:lpstr>Cambria Math</vt:lpstr>
      <vt:lpstr>Times New Roman</vt:lpstr>
      <vt:lpstr>Office Theme</vt:lpstr>
      <vt:lpstr>Introduction to Fourier Neural Operators</vt:lpstr>
      <vt:lpstr>Data driven discovery of PDEs</vt:lpstr>
      <vt:lpstr>PowerPoint Presentation</vt:lpstr>
      <vt:lpstr>Results</vt:lpstr>
      <vt:lpstr>Fourier Neural Operators (FNOs)</vt:lpstr>
      <vt:lpstr>High level architecture</vt:lpstr>
      <vt:lpstr>Fourier layers</vt:lpstr>
      <vt:lpstr>Improvements on PDE solutions</vt:lpstr>
      <vt:lpstr>Application to Navier-Stokes</vt:lpstr>
      <vt:lpstr>Use cases</vt:lpstr>
      <vt:lpstr>Use cases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Wu, Hilary H M</dc:creator>
  <cp:lastModifiedBy>Wu, Hilary H M</cp:lastModifiedBy>
  <cp:revision>3</cp:revision>
  <dcterms:created xsi:type="dcterms:W3CDTF">2026-06-30T05:33:02Z</dcterms:created>
  <dcterms:modified xsi:type="dcterms:W3CDTF">2026-07-01T03:44:49Z</dcterms:modified>
</cp:coreProperties>
</file>