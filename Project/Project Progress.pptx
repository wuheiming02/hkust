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70" r:id="rId3"/>
    <p:sldId id="258" r:id="rId4"/>
    <p:sldId id="259" r:id="rId5"/>
    <p:sldId id="260" r:id="rId6"/>
    <p:sldId id="261" r:id="rId7"/>
    <p:sldId id="262" r:id="rId8"/>
    <p:sldId id="257" r:id="rId9"/>
    <p:sldId id="263" r:id="rId10"/>
    <p:sldId id="264" r:id="rId11"/>
    <p:sldId id="265" r:id="rId12"/>
    <p:sldId id="271" r:id="rId13"/>
    <p:sldId id="272" r:id="rId14"/>
    <p:sldId id="267" r:id="rId15"/>
    <p:sldId id="268" r:id="rId16"/>
    <p:sldId id="269" r:id="rId17"/>
    <p:sldId id="273" r:id="rId18"/>
    <p:sldId id="274" r:id="rId19"/>
    <p:sldId id="275" r:id="rId20"/>
    <p:sldId id="276" r:id="rId21"/>
    <p:sldId id="277" r:id="rId22"/>
    <p:sldId id="266"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75" d="100"/>
          <a:sy n="75" d="100"/>
        </p:scale>
        <p:origin x="327" y="2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1AEA2E-D4DA-4EAA-ABBE-49A55A87C0A0}" type="datetimeFigureOut">
              <a:rPr lang="en-GB" smtClean="0"/>
              <a:t>31/07/2026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3BF5E8-8994-4896-9C18-E2CFBDE351ED}" type="slidenum">
              <a:rPr lang="en-GB" smtClean="0"/>
              <a:t>‹#›</a:t>
            </a:fld>
            <a:endParaRPr lang="en-GB"/>
          </a:p>
        </p:txBody>
      </p:sp>
    </p:spTree>
    <p:extLst>
      <p:ext uri="{BB962C8B-B14F-4D97-AF65-F5344CB8AC3E}">
        <p14:creationId xmlns:p14="http://schemas.microsoft.com/office/powerpoint/2010/main" val="36391423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paper: project idea</a:t>
            </a:r>
          </a:p>
          <a:p>
            <a:r>
              <a:rPr lang="en-GB" dirty="0"/>
              <a:t>Second paper: Underlying mathematics</a:t>
            </a:r>
          </a:p>
          <a:p>
            <a:r>
              <a:rPr lang="en-GB" dirty="0"/>
              <a:t>Third paper: Background physics</a:t>
            </a:r>
          </a:p>
          <a:p>
            <a:r>
              <a:rPr lang="en-GB" dirty="0"/>
              <a:t>Fourth paper: </a:t>
            </a:r>
            <a:r>
              <a:rPr lang="en-GB" dirty="0" err="1"/>
              <a:t>DeepONet</a:t>
            </a:r>
            <a:endParaRPr lang="en-GB" dirty="0"/>
          </a:p>
          <a:p>
            <a:r>
              <a:rPr lang="en-GB" dirty="0"/>
              <a:t>Fifth paper: </a:t>
            </a:r>
            <a:r>
              <a:rPr lang="en-GB" dirty="0" err="1"/>
              <a:t>PIDONet</a:t>
            </a:r>
            <a:endParaRPr lang="en-GB" dirty="0"/>
          </a:p>
        </p:txBody>
      </p:sp>
      <p:sp>
        <p:nvSpPr>
          <p:cNvPr id="4" name="Slide Number Placeholder 3"/>
          <p:cNvSpPr>
            <a:spLocks noGrp="1"/>
          </p:cNvSpPr>
          <p:nvPr>
            <p:ph type="sldNum" sz="quarter" idx="5"/>
          </p:nvPr>
        </p:nvSpPr>
        <p:spPr/>
        <p:txBody>
          <a:bodyPr/>
          <a:lstStyle/>
          <a:p>
            <a:fld id="{8D3BF5E8-8994-4896-9C18-E2CFBDE351ED}" type="slidenum">
              <a:rPr lang="en-GB" smtClean="0"/>
              <a:t>1</a:t>
            </a:fld>
            <a:endParaRPr lang="en-GB"/>
          </a:p>
        </p:txBody>
      </p:sp>
    </p:spTree>
    <p:extLst>
      <p:ext uri="{BB962C8B-B14F-4D97-AF65-F5344CB8AC3E}">
        <p14:creationId xmlns:p14="http://schemas.microsoft.com/office/powerpoint/2010/main" val="31569582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 Einstein Tensor</a:t>
            </a:r>
          </a:p>
          <a:p>
            <a:r>
              <a:rPr lang="en-GB" dirty="0"/>
              <a:t>T: Stress-energy tensor due to matter and radiation</a:t>
            </a:r>
          </a:p>
          <a:p>
            <a:endParaRPr lang="en-GB" dirty="0"/>
          </a:p>
          <a:p>
            <a:r>
              <a:rPr lang="en-GB" dirty="0"/>
              <a:t>10 PDEs</a:t>
            </a:r>
          </a:p>
          <a:p>
            <a:r>
              <a:rPr lang="en-GB" dirty="0"/>
              <a:t>4 spatial evolution equations</a:t>
            </a:r>
          </a:p>
          <a:p>
            <a:r>
              <a:rPr lang="en-GB" dirty="0"/>
              <a:t>6 constraint equations</a:t>
            </a:r>
          </a:p>
          <a:p>
            <a:endParaRPr lang="en-GB" dirty="0"/>
          </a:p>
          <a:p>
            <a:r>
              <a:rPr lang="en-GB" dirty="0"/>
              <a:t>Conformal decomposition</a:t>
            </a:r>
          </a:p>
          <a:p>
            <a:endParaRPr lang="en-GB" dirty="0"/>
          </a:p>
          <a:p>
            <a:r>
              <a:rPr lang="en-GB" dirty="0"/>
              <a:t>u: Regular correction to the singular analytic part of the conformal factor, represents the additional nonlinear deformation of the spatial geometry caused by the combined binary configuration, particularly the black holes’ momenta and spins</a:t>
            </a:r>
          </a:p>
          <a:p>
            <a:r>
              <a:rPr lang="en-GB" dirty="0"/>
              <a:t>m: mass of the blackholes</a:t>
            </a:r>
          </a:p>
          <a:p>
            <a:r>
              <a:rPr lang="en-GB" dirty="0"/>
              <a:t>r: distance from the punctures</a:t>
            </a:r>
          </a:p>
          <a:p>
            <a:r>
              <a:rPr lang="en-GB" dirty="0"/>
              <a:t>K: Trace-free extrinsic curvature, measures how the spatial hypersurface is embedded in spacetime, contains momenta and spin of the system</a:t>
            </a:r>
          </a:p>
          <a:p>
            <a:endParaRPr lang="en-GB" dirty="0"/>
          </a:p>
          <a:p>
            <a:endParaRPr lang="en-GB" dirty="0"/>
          </a:p>
        </p:txBody>
      </p:sp>
      <p:sp>
        <p:nvSpPr>
          <p:cNvPr id="4" name="Slide Number Placeholder 3"/>
          <p:cNvSpPr>
            <a:spLocks noGrp="1"/>
          </p:cNvSpPr>
          <p:nvPr>
            <p:ph type="sldNum" sz="quarter" idx="5"/>
          </p:nvPr>
        </p:nvSpPr>
        <p:spPr/>
        <p:txBody>
          <a:bodyPr/>
          <a:lstStyle/>
          <a:p>
            <a:fld id="{8D3BF5E8-8994-4896-9C18-E2CFBDE351ED}" type="slidenum">
              <a:rPr lang="en-GB" smtClean="0"/>
              <a:t>3</a:t>
            </a:fld>
            <a:endParaRPr lang="en-GB"/>
          </a:p>
        </p:txBody>
      </p:sp>
    </p:spTree>
    <p:extLst>
      <p:ext uri="{BB962C8B-B14F-4D97-AF65-F5344CB8AC3E}">
        <p14:creationId xmlns:p14="http://schemas.microsoft.com/office/powerpoint/2010/main" val="33152180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log sum exponential form of </a:t>
            </a:r>
            <a:r>
              <a:rPr lang="en-GB" dirty="0" err="1"/>
              <a:t>L_inf</a:t>
            </a:r>
            <a:r>
              <a:rPr lang="en-GB" dirty="0"/>
              <a:t> loss</a:t>
            </a:r>
          </a:p>
        </p:txBody>
      </p:sp>
      <p:sp>
        <p:nvSpPr>
          <p:cNvPr id="4" name="Slide Number Placeholder 3"/>
          <p:cNvSpPr>
            <a:spLocks noGrp="1"/>
          </p:cNvSpPr>
          <p:nvPr>
            <p:ph type="sldNum" sz="quarter" idx="5"/>
          </p:nvPr>
        </p:nvSpPr>
        <p:spPr/>
        <p:txBody>
          <a:bodyPr/>
          <a:lstStyle/>
          <a:p>
            <a:fld id="{8D3BF5E8-8994-4896-9C18-E2CFBDE351ED}" type="slidenum">
              <a:rPr lang="en-GB" smtClean="0"/>
              <a:t>5</a:t>
            </a:fld>
            <a:endParaRPr lang="en-GB"/>
          </a:p>
        </p:txBody>
      </p:sp>
    </p:spTree>
    <p:extLst>
      <p:ext uri="{BB962C8B-B14F-4D97-AF65-F5344CB8AC3E}">
        <p14:creationId xmlns:p14="http://schemas.microsoft.com/office/powerpoint/2010/main" val="32977226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100 epoch effective window for </a:t>
            </a:r>
            <a:r>
              <a:rPr lang="en-GB" dirty="0" err="1"/>
              <a:t>optimisaiton</a:t>
            </a:r>
            <a:endParaRPr lang="en-GB" dirty="0"/>
          </a:p>
        </p:txBody>
      </p:sp>
      <p:sp>
        <p:nvSpPr>
          <p:cNvPr id="4" name="Slide Number Placeholder 3"/>
          <p:cNvSpPr>
            <a:spLocks noGrp="1"/>
          </p:cNvSpPr>
          <p:nvPr>
            <p:ph type="sldNum" sz="quarter" idx="5"/>
          </p:nvPr>
        </p:nvSpPr>
        <p:spPr/>
        <p:txBody>
          <a:bodyPr/>
          <a:lstStyle/>
          <a:p>
            <a:fld id="{8D3BF5E8-8994-4896-9C18-E2CFBDE351ED}" type="slidenum">
              <a:rPr lang="en-GB" smtClean="0"/>
              <a:t>6</a:t>
            </a:fld>
            <a:endParaRPr lang="en-GB"/>
          </a:p>
        </p:txBody>
      </p:sp>
    </p:spTree>
    <p:extLst>
      <p:ext uri="{BB962C8B-B14F-4D97-AF65-F5344CB8AC3E}">
        <p14:creationId xmlns:p14="http://schemas.microsoft.com/office/powerpoint/2010/main" val="17084896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 = +-0.5</a:t>
            </a:r>
          </a:p>
          <a:p>
            <a:r>
              <a:rPr lang="en-GB" dirty="0"/>
              <a:t>x = +- 3</a:t>
            </a:r>
          </a:p>
          <a:p>
            <a:r>
              <a:rPr lang="en-GB" dirty="0"/>
              <a:t>P = +-0.2</a:t>
            </a:r>
          </a:p>
          <a:p>
            <a:endParaRPr lang="en-GB" dirty="0"/>
          </a:p>
          <a:p>
            <a:r>
              <a:rPr lang="en-GB" dirty="0"/>
              <a:t>m+ = 3</a:t>
            </a:r>
          </a:p>
          <a:p>
            <a:r>
              <a:rPr lang="en-GB" dirty="0"/>
              <a:t>m- = 2</a:t>
            </a:r>
          </a:p>
          <a:p>
            <a:r>
              <a:rPr lang="en-GB" dirty="0"/>
              <a:t>x = +-8</a:t>
            </a:r>
          </a:p>
          <a:p>
            <a:r>
              <a:rPr lang="en-GB" dirty="0" err="1"/>
              <a:t>Px</a:t>
            </a:r>
            <a:r>
              <a:rPr lang="en-GB" dirty="0"/>
              <a:t>+ = 0.1</a:t>
            </a:r>
          </a:p>
          <a:p>
            <a:r>
              <a:rPr lang="en-GB" dirty="0"/>
              <a:t>Py+ = 0.25</a:t>
            </a:r>
          </a:p>
          <a:p>
            <a:r>
              <a:rPr lang="en-GB" dirty="0" err="1"/>
              <a:t>Px</a:t>
            </a:r>
            <a:r>
              <a:rPr lang="en-GB" dirty="0"/>
              <a:t>- = 0.2</a:t>
            </a:r>
          </a:p>
          <a:p>
            <a:r>
              <a:rPr lang="en-GB" dirty="0"/>
              <a:t>Py- = -0.25</a:t>
            </a:r>
          </a:p>
        </p:txBody>
      </p:sp>
      <p:sp>
        <p:nvSpPr>
          <p:cNvPr id="4" name="Slide Number Placeholder 3"/>
          <p:cNvSpPr>
            <a:spLocks noGrp="1"/>
          </p:cNvSpPr>
          <p:nvPr>
            <p:ph type="sldNum" sz="quarter" idx="5"/>
          </p:nvPr>
        </p:nvSpPr>
        <p:spPr/>
        <p:txBody>
          <a:bodyPr/>
          <a:lstStyle/>
          <a:p>
            <a:fld id="{8D3BF5E8-8994-4896-9C18-E2CFBDE351ED}" type="slidenum">
              <a:rPr lang="en-GB" smtClean="0"/>
              <a:t>7</a:t>
            </a:fld>
            <a:endParaRPr lang="en-GB"/>
          </a:p>
        </p:txBody>
      </p:sp>
    </p:spTree>
    <p:extLst>
      <p:ext uri="{BB962C8B-B14F-4D97-AF65-F5344CB8AC3E}">
        <p14:creationId xmlns:p14="http://schemas.microsoft.com/office/powerpoint/2010/main" val="2670276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Accurate prediction for m-</a:t>
            </a:r>
          </a:p>
          <a:p>
            <a:r>
              <a:rPr lang="en-GB" dirty="0"/>
              <a:t>Less accurate prediction for m+</a:t>
            </a:r>
          </a:p>
          <a:p>
            <a:r>
              <a:rPr lang="en-GB" dirty="0"/>
              <a:t>Spikes at immediate surrounding around punctures</a:t>
            </a:r>
          </a:p>
        </p:txBody>
      </p:sp>
      <p:sp>
        <p:nvSpPr>
          <p:cNvPr id="4" name="Slide Number Placeholder 3"/>
          <p:cNvSpPr>
            <a:spLocks noGrp="1"/>
          </p:cNvSpPr>
          <p:nvPr>
            <p:ph type="sldNum" sz="quarter" idx="5"/>
          </p:nvPr>
        </p:nvSpPr>
        <p:spPr/>
        <p:txBody>
          <a:bodyPr/>
          <a:lstStyle/>
          <a:p>
            <a:fld id="{8D3BF5E8-8994-4896-9C18-E2CFBDE351ED}" type="slidenum">
              <a:rPr lang="en-GB" smtClean="0"/>
              <a:t>8</a:t>
            </a:fld>
            <a:endParaRPr lang="en-GB"/>
          </a:p>
        </p:txBody>
      </p:sp>
    </p:spTree>
    <p:extLst>
      <p:ext uri="{BB962C8B-B14F-4D97-AF65-F5344CB8AC3E}">
        <p14:creationId xmlns:p14="http://schemas.microsoft.com/office/powerpoint/2010/main" val="29853333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ug = approximate analytic solution</a:t>
            </a:r>
          </a:p>
          <a:p>
            <a:r>
              <a:rPr lang="en-GB" dirty="0"/>
              <a:t>contains u2</a:t>
            </a:r>
          </a:p>
          <a:p>
            <a:endParaRPr lang="en-GB" dirty="0"/>
          </a:p>
          <a:p>
            <a:r>
              <a:rPr lang="en-GB" dirty="0"/>
              <a:t>denominator contains curly R</a:t>
            </a:r>
          </a:p>
        </p:txBody>
      </p:sp>
      <p:sp>
        <p:nvSpPr>
          <p:cNvPr id="4" name="Slide Number Placeholder 3"/>
          <p:cNvSpPr>
            <a:spLocks noGrp="1"/>
          </p:cNvSpPr>
          <p:nvPr>
            <p:ph type="sldNum" sz="quarter" idx="5"/>
          </p:nvPr>
        </p:nvSpPr>
        <p:spPr/>
        <p:txBody>
          <a:bodyPr/>
          <a:lstStyle/>
          <a:p>
            <a:fld id="{8D3BF5E8-8994-4896-9C18-E2CFBDE351ED}" type="slidenum">
              <a:rPr lang="en-GB" smtClean="0"/>
              <a:t>9</a:t>
            </a:fld>
            <a:endParaRPr lang="en-GB"/>
          </a:p>
        </p:txBody>
      </p:sp>
    </p:spTree>
    <p:extLst>
      <p:ext uri="{BB962C8B-B14F-4D97-AF65-F5344CB8AC3E}">
        <p14:creationId xmlns:p14="http://schemas.microsoft.com/office/powerpoint/2010/main" val="1267703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Equal mass case:</a:t>
            </a:r>
          </a:p>
          <a:p>
            <a:r>
              <a:rPr lang="en-GB" dirty="0"/>
              <a:t>systematically underestimates u around and </a:t>
            </a:r>
            <a:r>
              <a:rPr lang="en-GB" dirty="0" err="1"/>
              <a:t>inbetween</a:t>
            </a:r>
            <a:r>
              <a:rPr lang="en-GB" dirty="0"/>
              <a:t> punctures</a:t>
            </a:r>
          </a:p>
          <a:p>
            <a:endParaRPr lang="en-GB" dirty="0"/>
          </a:p>
          <a:p>
            <a:r>
              <a:rPr lang="en-GB" dirty="0"/>
              <a:t>Unequal mass case:</a:t>
            </a:r>
          </a:p>
          <a:p>
            <a:r>
              <a:rPr lang="en-GB" dirty="0"/>
              <a:t>More accurate prediction near lower mass blackhole. </a:t>
            </a:r>
          </a:p>
          <a:p>
            <a:r>
              <a:rPr lang="en-GB" dirty="0"/>
              <a:t>Less accurate for lower values of u</a:t>
            </a:r>
          </a:p>
        </p:txBody>
      </p:sp>
      <p:sp>
        <p:nvSpPr>
          <p:cNvPr id="4" name="Slide Number Placeholder 3"/>
          <p:cNvSpPr>
            <a:spLocks noGrp="1"/>
          </p:cNvSpPr>
          <p:nvPr>
            <p:ph type="sldNum" sz="quarter" idx="5"/>
          </p:nvPr>
        </p:nvSpPr>
        <p:spPr/>
        <p:txBody>
          <a:bodyPr/>
          <a:lstStyle/>
          <a:p>
            <a:fld id="{8D3BF5E8-8994-4896-9C18-E2CFBDE351ED}" type="slidenum">
              <a:rPr lang="en-GB" smtClean="0"/>
              <a:t>10</a:t>
            </a:fld>
            <a:endParaRPr lang="en-GB"/>
          </a:p>
        </p:txBody>
      </p:sp>
    </p:spTree>
    <p:extLst>
      <p:ext uri="{BB962C8B-B14F-4D97-AF65-F5344CB8AC3E}">
        <p14:creationId xmlns:p14="http://schemas.microsoft.com/office/powerpoint/2010/main" val="32332268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Equal mass case:</a:t>
            </a:r>
          </a:p>
          <a:p>
            <a:r>
              <a:rPr lang="en-GB" dirty="0"/>
              <a:t>deviation mainly from central region around the punctures</a:t>
            </a:r>
          </a:p>
          <a:p>
            <a:endParaRPr lang="en-GB" dirty="0"/>
          </a:p>
          <a:p>
            <a:r>
              <a:rPr lang="en-GB" dirty="0"/>
              <a:t>Unequal mass case:</a:t>
            </a:r>
          </a:p>
          <a:p>
            <a:r>
              <a:rPr lang="en-GB" dirty="0"/>
              <a:t>Largest deviation from positive y region away from the punctures</a:t>
            </a:r>
          </a:p>
          <a:p>
            <a:r>
              <a:rPr lang="en-GB" dirty="0"/>
              <a:t>Maybe due to loss collocation points near that region</a:t>
            </a:r>
          </a:p>
        </p:txBody>
      </p:sp>
      <p:sp>
        <p:nvSpPr>
          <p:cNvPr id="4" name="Slide Number Placeholder 3"/>
          <p:cNvSpPr>
            <a:spLocks noGrp="1"/>
          </p:cNvSpPr>
          <p:nvPr>
            <p:ph type="sldNum" sz="quarter" idx="5"/>
          </p:nvPr>
        </p:nvSpPr>
        <p:spPr/>
        <p:txBody>
          <a:bodyPr/>
          <a:lstStyle/>
          <a:p>
            <a:fld id="{8D3BF5E8-8994-4896-9C18-E2CFBDE351ED}" type="slidenum">
              <a:rPr lang="en-GB" smtClean="0"/>
              <a:t>11</a:t>
            </a:fld>
            <a:endParaRPr lang="en-GB"/>
          </a:p>
        </p:txBody>
      </p:sp>
    </p:spTree>
    <p:extLst>
      <p:ext uri="{BB962C8B-B14F-4D97-AF65-F5344CB8AC3E}">
        <p14:creationId xmlns:p14="http://schemas.microsoft.com/office/powerpoint/2010/main" val="41974376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Branch net encodes discrete input function space</a:t>
            </a:r>
          </a:p>
          <a:p>
            <a:endParaRPr lang="en-GB" dirty="0"/>
          </a:p>
          <a:p>
            <a:r>
              <a:rPr lang="en-GB" dirty="0"/>
              <a:t>Trunk net encodes domain of output function G</a:t>
            </a:r>
          </a:p>
          <a:p>
            <a:endParaRPr lang="en-GB" dirty="0"/>
          </a:p>
          <a:p>
            <a:r>
              <a:rPr lang="en-GB" dirty="0"/>
              <a:t>Calculate G using dot product of branch and trunk net outputs and a optimised bias term</a:t>
            </a:r>
          </a:p>
        </p:txBody>
      </p:sp>
      <p:sp>
        <p:nvSpPr>
          <p:cNvPr id="4" name="Slide Number Placeholder 3"/>
          <p:cNvSpPr>
            <a:spLocks noGrp="1"/>
          </p:cNvSpPr>
          <p:nvPr>
            <p:ph type="sldNum" sz="quarter" idx="5"/>
          </p:nvPr>
        </p:nvSpPr>
        <p:spPr/>
        <p:txBody>
          <a:bodyPr/>
          <a:lstStyle/>
          <a:p>
            <a:fld id="{8D3BF5E8-8994-4896-9C18-E2CFBDE351ED}" type="slidenum">
              <a:rPr lang="en-GB" smtClean="0"/>
              <a:t>12</a:t>
            </a:fld>
            <a:endParaRPr lang="en-GB"/>
          </a:p>
        </p:txBody>
      </p:sp>
    </p:spTree>
    <p:extLst>
      <p:ext uri="{BB962C8B-B14F-4D97-AF65-F5344CB8AC3E}">
        <p14:creationId xmlns:p14="http://schemas.microsoft.com/office/powerpoint/2010/main" val="28313708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Extends </a:t>
            </a:r>
            <a:r>
              <a:rPr lang="en-GB" dirty="0" err="1"/>
              <a:t>DeepONet</a:t>
            </a:r>
            <a:r>
              <a:rPr lang="en-GB" dirty="0"/>
              <a:t> by taking into account PDE residual and IC, BC loss</a:t>
            </a:r>
          </a:p>
        </p:txBody>
      </p:sp>
      <p:sp>
        <p:nvSpPr>
          <p:cNvPr id="4" name="Slide Number Placeholder 3"/>
          <p:cNvSpPr>
            <a:spLocks noGrp="1"/>
          </p:cNvSpPr>
          <p:nvPr>
            <p:ph type="sldNum" sz="quarter" idx="5"/>
          </p:nvPr>
        </p:nvSpPr>
        <p:spPr/>
        <p:txBody>
          <a:bodyPr/>
          <a:lstStyle/>
          <a:p>
            <a:fld id="{8D3BF5E8-8994-4896-9C18-E2CFBDE351ED}" type="slidenum">
              <a:rPr lang="en-GB" smtClean="0"/>
              <a:t>13</a:t>
            </a:fld>
            <a:endParaRPr lang="en-GB"/>
          </a:p>
        </p:txBody>
      </p:sp>
    </p:spTree>
    <p:extLst>
      <p:ext uri="{BB962C8B-B14F-4D97-AF65-F5344CB8AC3E}">
        <p14:creationId xmlns:p14="http://schemas.microsoft.com/office/powerpoint/2010/main" val="5042903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FD01B-2E01-0A4F-57AC-AA0C3762969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6B2BDED8-E6C9-9E08-1294-BEDFB99C11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9C61421-87A9-F59D-EB89-EF972E39A542}"/>
              </a:ext>
            </a:extLst>
          </p:cNvPr>
          <p:cNvSpPr>
            <a:spLocks noGrp="1"/>
          </p:cNvSpPr>
          <p:nvPr>
            <p:ph type="dt" sz="half" idx="10"/>
          </p:nvPr>
        </p:nvSpPr>
        <p:spPr/>
        <p:txBody>
          <a:bodyPr/>
          <a:lstStyle/>
          <a:p>
            <a:fld id="{14B2C91B-C10F-455D-BCC4-2D03018C3ADE}" type="datetimeFigureOut">
              <a:rPr lang="en-GB" smtClean="0"/>
              <a:t>31/07/2026</a:t>
            </a:fld>
            <a:endParaRPr lang="en-GB"/>
          </a:p>
        </p:txBody>
      </p:sp>
      <p:sp>
        <p:nvSpPr>
          <p:cNvPr id="5" name="Footer Placeholder 4">
            <a:extLst>
              <a:ext uri="{FF2B5EF4-FFF2-40B4-BE49-F238E27FC236}">
                <a16:creationId xmlns:a16="http://schemas.microsoft.com/office/drawing/2014/main" id="{0BD90B20-1BB1-4E25-89AB-6910053B374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7472493-53AE-3586-DBF2-40403DFD7923}"/>
              </a:ext>
            </a:extLst>
          </p:cNvPr>
          <p:cNvSpPr>
            <a:spLocks noGrp="1"/>
          </p:cNvSpPr>
          <p:nvPr>
            <p:ph type="sldNum" sz="quarter" idx="12"/>
          </p:nvPr>
        </p:nvSpPr>
        <p:spPr/>
        <p:txBody>
          <a:bodyPr/>
          <a:lstStyle/>
          <a:p>
            <a:fld id="{F7355937-3045-445C-A7A2-AB0616A52439}" type="slidenum">
              <a:rPr lang="en-GB" smtClean="0"/>
              <a:t>‹#›</a:t>
            </a:fld>
            <a:endParaRPr lang="en-GB"/>
          </a:p>
        </p:txBody>
      </p:sp>
    </p:spTree>
    <p:extLst>
      <p:ext uri="{BB962C8B-B14F-4D97-AF65-F5344CB8AC3E}">
        <p14:creationId xmlns:p14="http://schemas.microsoft.com/office/powerpoint/2010/main" val="6013881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35C8D-1048-74F7-7F06-5E51EC356447}"/>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67EFE58-D5C4-5BDD-8304-824FE10D96C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3F40E89-A5CA-0B8A-4807-ACD5096F972F}"/>
              </a:ext>
            </a:extLst>
          </p:cNvPr>
          <p:cNvSpPr>
            <a:spLocks noGrp="1"/>
          </p:cNvSpPr>
          <p:nvPr>
            <p:ph type="dt" sz="half" idx="10"/>
          </p:nvPr>
        </p:nvSpPr>
        <p:spPr/>
        <p:txBody>
          <a:bodyPr/>
          <a:lstStyle/>
          <a:p>
            <a:fld id="{14B2C91B-C10F-455D-BCC4-2D03018C3ADE}" type="datetimeFigureOut">
              <a:rPr lang="en-GB" smtClean="0"/>
              <a:t>31/07/2026</a:t>
            </a:fld>
            <a:endParaRPr lang="en-GB"/>
          </a:p>
        </p:txBody>
      </p:sp>
      <p:sp>
        <p:nvSpPr>
          <p:cNvPr id="5" name="Footer Placeholder 4">
            <a:extLst>
              <a:ext uri="{FF2B5EF4-FFF2-40B4-BE49-F238E27FC236}">
                <a16:creationId xmlns:a16="http://schemas.microsoft.com/office/drawing/2014/main" id="{29248E41-B66A-DF8F-7BA0-6F96FCF575E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DAF50E3-721A-1488-B550-8E738E3F58E4}"/>
              </a:ext>
            </a:extLst>
          </p:cNvPr>
          <p:cNvSpPr>
            <a:spLocks noGrp="1"/>
          </p:cNvSpPr>
          <p:nvPr>
            <p:ph type="sldNum" sz="quarter" idx="12"/>
          </p:nvPr>
        </p:nvSpPr>
        <p:spPr/>
        <p:txBody>
          <a:bodyPr/>
          <a:lstStyle/>
          <a:p>
            <a:fld id="{F7355937-3045-445C-A7A2-AB0616A52439}" type="slidenum">
              <a:rPr lang="en-GB" smtClean="0"/>
              <a:t>‹#›</a:t>
            </a:fld>
            <a:endParaRPr lang="en-GB"/>
          </a:p>
        </p:txBody>
      </p:sp>
    </p:spTree>
    <p:extLst>
      <p:ext uri="{BB962C8B-B14F-4D97-AF65-F5344CB8AC3E}">
        <p14:creationId xmlns:p14="http://schemas.microsoft.com/office/powerpoint/2010/main" val="31361898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15FF6-364F-3CAB-C483-40BEC7EEC79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50504957-78F6-36C1-FED2-B495196A62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D65845-4EDE-E4B3-79E0-F3FA99A25535}"/>
              </a:ext>
            </a:extLst>
          </p:cNvPr>
          <p:cNvSpPr>
            <a:spLocks noGrp="1"/>
          </p:cNvSpPr>
          <p:nvPr>
            <p:ph type="dt" sz="half" idx="10"/>
          </p:nvPr>
        </p:nvSpPr>
        <p:spPr/>
        <p:txBody>
          <a:bodyPr/>
          <a:lstStyle/>
          <a:p>
            <a:fld id="{14B2C91B-C10F-455D-BCC4-2D03018C3ADE}" type="datetimeFigureOut">
              <a:rPr lang="en-GB" smtClean="0"/>
              <a:t>31/07/2026</a:t>
            </a:fld>
            <a:endParaRPr lang="en-GB"/>
          </a:p>
        </p:txBody>
      </p:sp>
      <p:sp>
        <p:nvSpPr>
          <p:cNvPr id="5" name="Footer Placeholder 4">
            <a:extLst>
              <a:ext uri="{FF2B5EF4-FFF2-40B4-BE49-F238E27FC236}">
                <a16:creationId xmlns:a16="http://schemas.microsoft.com/office/drawing/2014/main" id="{25937CBB-EE69-747A-DBA2-18F40982654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C16058B-C356-4EF2-93C3-66542E2281C0}"/>
              </a:ext>
            </a:extLst>
          </p:cNvPr>
          <p:cNvSpPr>
            <a:spLocks noGrp="1"/>
          </p:cNvSpPr>
          <p:nvPr>
            <p:ph type="sldNum" sz="quarter" idx="12"/>
          </p:nvPr>
        </p:nvSpPr>
        <p:spPr/>
        <p:txBody>
          <a:bodyPr/>
          <a:lstStyle/>
          <a:p>
            <a:fld id="{F7355937-3045-445C-A7A2-AB0616A52439}" type="slidenum">
              <a:rPr lang="en-GB" smtClean="0"/>
              <a:t>‹#›</a:t>
            </a:fld>
            <a:endParaRPr lang="en-GB"/>
          </a:p>
        </p:txBody>
      </p:sp>
    </p:spTree>
    <p:extLst>
      <p:ext uri="{BB962C8B-B14F-4D97-AF65-F5344CB8AC3E}">
        <p14:creationId xmlns:p14="http://schemas.microsoft.com/office/powerpoint/2010/main" val="16055250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BD6C1-3DC4-D0A1-99B3-72CAED279E49}"/>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6422BA3-4BB5-8A50-A5E6-4B3B4BED43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37D21CD-DB41-D919-D5A7-92EC199A419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B6265908-D51A-1948-A4B6-CEF4BCDCAF07}"/>
              </a:ext>
            </a:extLst>
          </p:cNvPr>
          <p:cNvSpPr>
            <a:spLocks noGrp="1"/>
          </p:cNvSpPr>
          <p:nvPr>
            <p:ph type="dt" sz="half" idx="10"/>
          </p:nvPr>
        </p:nvSpPr>
        <p:spPr/>
        <p:txBody>
          <a:bodyPr/>
          <a:lstStyle/>
          <a:p>
            <a:fld id="{14B2C91B-C10F-455D-BCC4-2D03018C3ADE}" type="datetimeFigureOut">
              <a:rPr lang="en-GB" smtClean="0"/>
              <a:t>31/07/2026</a:t>
            </a:fld>
            <a:endParaRPr lang="en-GB"/>
          </a:p>
        </p:txBody>
      </p:sp>
      <p:sp>
        <p:nvSpPr>
          <p:cNvPr id="6" name="Footer Placeholder 5">
            <a:extLst>
              <a:ext uri="{FF2B5EF4-FFF2-40B4-BE49-F238E27FC236}">
                <a16:creationId xmlns:a16="http://schemas.microsoft.com/office/drawing/2014/main" id="{4AED6EE0-6937-9DF4-4997-5A39CCB3345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0C6B27D-21FD-0CCC-A0DD-7412DD7E1190}"/>
              </a:ext>
            </a:extLst>
          </p:cNvPr>
          <p:cNvSpPr>
            <a:spLocks noGrp="1"/>
          </p:cNvSpPr>
          <p:nvPr>
            <p:ph type="sldNum" sz="quarter" idx="12"/>
          </p:nvPr>
        </p:nvSpPr>
        <p:spPr/>
        <p:txBody>
          <a:bodyPr/>
          <a:lstStyle/>
          <a:p>
            <a:fld id="{F7355937-3045-445C-A7A2-AB0616A52439}" type="slidenum">
              <a:rPr lang="en-GB" smtClean="0"/>
              <a:t>‹#›</a:t>
            </a:fld>
            <a:endParaRPr lang="en-GB"/>
          </a:p>
        </p:txBody>
      </p:sp>
    </p:spTree>
    <p:extLst>
      <p:ext uri="{BB962C8B-B14F-4D97-AF65-F5344CB8AC3E}">
        <p14:creationId xmlns:p14="http://schemas.microsoft.com/office/powerpoint/2010/main" val="10101744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38E7EC-05E4-DB8E-A4A6-B25BFE86971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E243A191-509C-B23C-C894-970F3F52CFA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D4E9C04-B56A-25FB-B002-748A29100F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BCD8172-F580-16C4-D1A7-81FE18F3AF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9EA933-50B4-7D1A-213B-17CDEF197D6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97E13C4-CB16-C816-76D7-399E5786D9F2}"/>
              </a:ext>
            </a:extLst>
          </p:cNvPr>
          <p:cNvSpPr>
            <a:spLocks noGrp="1"/>
          </p:cNvSpPr>
          <p:nvPr>
            <p:ph type="dt" sz="half" idx="10"/>
          </p:nvPr>
        </p:nvSpPr>
        <p:spPr/>
        <p:txBody>
          <a:bodyPr/>
          <a:lstStyle/>
          <a:p>
            <a:fld id="{14B2C91B-C10F-455D-BCC4-2D03018C3ADE}" type="datetimeFigureOut">
              <a:rPr lang="en-GB" smtClean="0"/>
              <a:t>31/07/2026</a:t>
            </a:fld>
            <a:endParaRPr lang="en-GB"/>
          </a:p>
        </p:txBody>
      </p:sp>
      <p:sp>
        <p:nvSpPr>
          <p:cNvPr id="8" name="Footer Placeholder 7">
            <a:extLst>
              <a:ext uri="{FF2B5EF4-FFF2-40B4-BE49-F238E27FC236}">
                <a16:creationId xmlns:a16="http://schemas.microsoft.com/office/drawing/2014/main" id="{CBAF9181-E4EC-5924-B479-B1E861C0EDB1}"/>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0ABEF9AA-3B29-FFD2-0119-3B7CEC58C5D9}"/>
              </a:ext>
            </a:extLst>
          </p:cNvPr>
          <p:cNvSpPr>
            <a:spLocks noGrp="1"/>
          </p:cNvSpPr>
          <p:nvPr>
            <p:ph type="sldNum" sz="quarter" idx="12"/>
          </p:nvPr>
        </p:nvSpPr>
        <p:spPr/>
        <p:txBody>
          <a:bodyPr/>
          <a:lstStyle/>
          <a:p>
            <a:fld id="{F7355937-3045-445C-A7A2-AB0616A52439}" type="slidenum">
              <a:rPr lang="en-GB" smtClean="0"/>
              <a:t>‹#›</a:t>
            </a:fld>
            <a:endParaRPr lang="en-GB"/>
          </a:p>
        </p:txBody>
      </p:sp>
    </p:spTree>
    <p:extLst>
      <p:ext uri="{BB962C8B-B14F-4D97-AF65-F5344CB8AC3E}">
        <p14:creationId xmlns:p14="http://schemas.microsoft.com/office/powerpoint/2010/main" val="785437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4B259-7EC7-AB3E-F3BE-849D6634044D}"/>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3FC07134-AF7C-AA46-D499-8EB258D0A688}"/>
              </a:ext>
            </a:extLst>
          </p:cNvPr>
          <p:cNvSpPr>
            <a:spLocks noGrp="1"/>
          </p:cNvSpPr>
          <p:nvPr>
            <p:ph type="dt" sz="half" idx="10"/>
          </p:nvPr>
        </p:nvSpPr>
        <p:spPr/>
        <p:txBody>
          <a:bodyPr/>
          <a:lstStyle/>
          <a:p>
            <a:fld id="{14B2C91B-C10F-455D-BCC4-2D03018C3ADE}" type="datetimeFigureOut">
              <a:rPr lang="en-GB" smtClean="0"/>
              <a:t>31/07/2026</a:t>
            </a:fld>
            <a:endParaRPr lang="en-GB"/>
          </a:p>
        </p:txBody>
      </p:sp>
      <p:sp>
        <p:nvSpPr>
          <p:cNvPr id="4" name="Footer Placeholder 3">
            <a:extLst>
              <a:ext uri="{FF2B5EF4-FFF2-40B4-BE49-F238E27FC236}">
                <a16:creationId xmlns:a16="http://schemas.microsoft.com/office/drawing/2014/main" id="{E9935CAF-AFEC-F512-5751-A59D11B5C3C6}"/>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871D715D-FA5B-753E-263C-1139E7C4384E}"/>
              </a:ext>
            </a:extLst>
          </p:cNvPr>
          <p:cNvSpPr>
            <a:spLocks noGrp="1"/>
          </p:cNvSpPr>
          <p:nvPr>
            <p:ph type="sldNum" sz="quarter" idx="12"/>
          </p:nvPr>
        </p:nvSpPr>
        <p:spPr/>
        <p:txBody>
          <a:bodyPr/>
          <a:lstStyle/>
          <a:p>
            <a:fld id="{F7355937-3045-445C-A7A2-AB0616A52439}" type="slidenum">
              <a:rPr lang="en-GB" smtClean="0"/>
              <a:t>‹#›</a:t>
            </a:fld>
            <a:endParaRPr lang="en-GB"/>
          </a:p>
        </p:txBody>
      </p:sp>
    </p:spTree>
    <p:extLst>
      <p:ext uri="{BB962C8B-B14F-4D97-AF65-F5344CB8AC3E}">
        <p14:creationId xmlns:p14="http://schemas.microsoft.com/office/powerpoint/2010/main" val="16812502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E308ECD-1834-9004-E259-7448E0015F8B}"/>
              </a:ext>
            </a:extLst>
          </p:cNvPr>
          <p:cNvSpPr>
            <a:spLocks noGrp="1"/>
          </p:cNvSpPr>
          <p:nvPr>
            <p:ph type="dt" sz="half" idx="10"/>
          </p:nvPr>
        </p:nvSpPr>
        <p:spPr/>
        <p:txBody>
          <a:bodyPr/>
          <a:lstStyle/>
          <a:p>
            <a:fld id="{14B2C91B-C10F-455D-BCC4-2D03018C3ADE}" type="datetimeFigureOut">
              <a:rPr lang="en-GB" smtClean="0"/>
              <a:t>31/07/2026</a:t>
            </a:fld>
            <a:endParaRPr lang="en-GB"/>
          </a:p>
        </p:txBody>
      </p:sp>
      <p:sp>
        <p:nvSpPr>
          <p:cNvPr id="3" name="Footer Placeholder 2">
            <a:extLst>
              <a:ext uri="{FF2B5EF4-FFF2-40B4-BE49-F238E27FC236}">
                <a16:creationId xmlns:a16="http://schemas.microsoft.com/office/drawing/2014/main" id="{2CFA5FE7-3C0F-7D9D-03D9-0E7FA5894505}"/>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503804F-0313-AD02-EEED-77540B314DF9}"/>
              </a:ext>
            </a:extLst>
          </p:cNvPr>
          <p:cNvSpPr>
            <a:spLocks noGrp="1"/>
          </p:cNvSpPr>
          <p:nvPr>
            <p:ph type="sldNum" sz="quarter" idx="12"/>
          </p:nvPr>
        </p:nvSpPr>
        <p:spPr/>
        <p:txBody>
          <a:bodyPr/>
          <a:lstStyle/>
          <a:p>
            <a:fld id="{F7355937-3045-445C-A7A2-AB0616A52439}" type="slidenum">
              <a:rPr lang="en-GB" smtClean="0"/>
              <a:t>‹#›</a:t>
            </a:fld>
            <a:endParaRPr lang="en-GB"/>
          </a:p>
        </p:txBody>
      </p:sp>
    </p:spTree>
    <p:extLst>
      <p:ext uri="{BB962C8B-B14F-4D97-AF65-F5344CB8AC3E}">
        <p14:creationId xmlns:p14="http://schemas.microsoft.com/office/powerpoint/2010/main" val="3064730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4F637-8510-7A3A-EB7E-572A3DDE9FD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DB2F650-DB82-2190-AF1B-165730C83F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13B51EE-AA0C-4F1B-33AA-B56F033C67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3053D2-AF6D-34C0-9669-583DF36D1F4E}"/>
              </a:ext>
            </a:extLst>
          </p:cNvPr>
          <p:cNvSpPr>
            <a:spLocks noGrp="1"/>
          </p:cNvSpPr>
          <p:nvPr>
            <p:ph type="dt" sz="half" idx="10"/>
          </p:nvPr>
        </p:nvSpPr>
        <p:spPr/>
        <p:txBody>
          <a:bodyPr/>
          <a:lstStyle/>
          <a:p>
            <a:fld id="{14B2C91B-C10F-455D-BCC4-2D03018C3ADE}" type="datetimeFigureOut">
              <a:rPr lang="en-GB" smtClean="0"/>
              <a:t>31/07/2026</a:t>
            </a:fld>
            <a:endParaRPr lang="en-GB"/>
          </a:p>
        </p:txBody>
      </p:sp>
      <p:sp>
        <p:nvSpPr>
          <p:cNvPr id="6" name="Footer Placeholder 5">
            <a:extLst>
              <a:ext uri="{FF2B5EF4-FFF2-40B4-BE49-F238E27FC236}">
                <a16:creationId xmlns:a16="http://schemas.microsoft.com/office/drawing/2014/main" id="{E51F449F-06E0-F732-7BE3-1D289DEF84C0}"/>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514FE57-0019-5733-26D2-6D89A73F42A2}"/>
              </a:ext>
            </a:extLst>
          </p:cNvPr>
          <p:cNvSpPr>
            <a:spLocks noGrp="1"/>
          </p:cNvSpPr>
          <p:nvPr>
            <p:ph type="sldNum" sz="quarter" idx="12"/>
          </p:nvPr>
        </p:nvSpPr>
        <p:spPr/>
        <p:txBody>
          <a:bodyPr/>
          <a:lstStyle/>
          <a:p>
            <a:fld id="{F7355937-3045-445C-A7A2-AB0616A52439}" type="slidenum">
              <a:rPr lang="en-GB" smtClean="0"/>
              <a:t>‹#›</a:t>
            </a:fld>
            <a:endParaRPr lang="en-GB"/>
          </a:p>
        </p:txBody>
      </p:sp>
    </p:spTree>
    <p:extLst>
      <p:ext uri="{BB962C8B-B14F-4D97-AF65-F5344CB8AC3E}">
        <p14:creationId xmlns:p14="http://schemas.microsoft.com/office/powerpoint/2010/main" val="28242211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AD0BA-7E67-F9D3-8D1A-B4F63EF1437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663D3AA-E147-F3C2-4A14-DE3FB01778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48D987A3-64DB-7946-61C1-07ACFB331C7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755FB-2571-63D0-CDF7-E896152F22E4}"/>
              </a:ext>
            </a:extLst>
          </p:cNvPr>
          <p:cNvSpPr>
            <a:spLocks noGrp="1"/>
          </p:cNvSpPr>
          <p:nvPr>
            <p:ph type="dt" sz="half" idx="10"/>
          </p:nvPr>
        </p:nvSpPr>
        <p:spPr/>
        <p:txBody>
          <a:bodyPr/>
          <a:lstStyle/>
          <a:p>
            <a:fld id="{14B2C91B-C10F-455D-BCC4-2D03018C3ADE}" type="datetimeFigureOut">
              <a:rPr lang="en-GB" smtClean="0"/>
              <a:t>31/07/2026</a:t>
            </a:fld>
            <a:endParaRPr lang="en-GB"/>
          </a:p>
        </p:txBody>
      </p:sp>
      <p:sp>
        <p:nvSpPr>
          <p:cNvPr id="6" name="Footer Placeholder 5">
            <a:extLst>
              <a:ext uri="{FF2B5EF4-FFF2-40B4-BE49-F238E27FC236}">
                <a16:creationId xmlns:a16="http://schemas.microsoft.com/office/drawing/2014/main" id="{7212EE7F-DE33-D6BF-E6B9-D06B34BCE65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1A3544A-6147-72D2-EED3-4301762832A2}"/>
              </a:ext>
            </a:extLst>
          </p:cNvPr>
          <p:cNvSpPr>
            <a:spLocks noGrp="1"/>
          </p:cNvSpPr>
          <p:nvPr>
            <p:ph type="sldNum" sz="quarter" idx="12"/>
          </p:nvPr>
        </p:nvSpPr>
        <p:spPr/>
        <p:txBody>
          <a:bodyPr/>
          <a:lstStyle/>
          <a:p>
            <a:fld id="{F7355937-3045-445C-A7A2-AB0616A52439}" type="slidenum">
              <a:rPr lang="en-GB" smtClean="0"/>
              <a:t>‹#›</a:t>
            </a:fld>
            <a:endParaRPr lang="en-GB"/>
          </a:p>
        </p:txBody>
      </p:sp>
    </p:spTree>
    <p:extLst>
      <p:ext uri="{BB962C8B-B14F-4D97-AF65-F5344CB8AC3E}">
        <p14:creationId xmlns:p14="http://schemas.microsoft.com/office/powerpoint/2010/main" val="38642460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DA5C8-5390-9A6D-E495-7443EAC9F626}"/>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9AB2672-F6AA-DF7D-3B42-1A18F4A2C01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FA95414-C55B-B261-5E82-C0B850C224A6}"/>
              </a:ext>
            </a:extLst>
          </p:cNvPr>
          <p:cNvSpPr>
            <a:spLocks noGrp="1"/>
          </p:cNvSpPr>
          <p:nvPr>
            <p:ph type="dt" sz="half" idx="10"/>
          </p:nvPr>
        </p:nvSpPr>
        <p:spPr/>
        <p:txBody>
          <a:bodyPr/>
          <a:lstStyle/>
          <a:p>
            <a:fld id="{14B2C91B-C10F-455D-BCC4-2D03018C3ADE}" type="datetimeFigureOut">
              <a:rPr lang="en-GB" smtClean="0"/>
              <a:t>31/07/2026</a:t>
            </a:fld>
            <a:endParaRPr lang="en-GB"/>
          </a:p>
        </p:txBody>
      </p:sp>
      <p:sp>
        <p:nvSpPr>
          <p:cNvPr id="5" name="Footer Placeholder 4">
            <a:extLst>
              <a:ext uri="{FF2B5EF4-FFF2-40B4-BE49-F238E27FC236}">
                <a16:creationId xmlns:a16="http://schemas.microsoft.com/office/drawing/2014/main" id="{9829F091-0AFD-4719-D7B3-AE4D9E33A0B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BCF4C7C-CD2B-4AA5-9B6A-5C017DD48008}"/>
              </a:ext>
            </a:extLst>
          </p:cNvPr>
          <p:cNvSpPr>
            <a:spLocks noGrp="1"/>
          </p:cNvSpPr>
          <p:nvPr>
            <p:ph type="sldNum" sz="quarter" idx="12"/>
          </p:nvPr>
        </p:nvSpPr>
        <p:spPr/>
        <p:txBody>
          <a:bodyPr/>
          <a:lstStyle/>
          <a:p>
            <a:fld id="{F7355937-3045-445C-A7A2-AB0616A52439}" type="slidenum">
              <a:rPr lang="en-GB" smtClean="0"/>
              <a:t>‹#›</a:t>
            </a:fld>
            <a:endParaRPr lang="en-GB"/>
          </a:p>
        </p:txBody>
      </p:sp>
    </p:spTree>
    <p:extLst>
      <p:ext uri="{BB962C8B-B14F-4D97-AF65-F5344CB8AC3E}">
        <p14:creationId xmlns:p14="http://schemas.microsoft.com/office/powerpoint/2010/main" val="20147057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1C757F1-3551-1B50-DA1C-4C678E6C9E8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246E8E7-78AF-1AC0-3102-4F41018290D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9C9063D-7E77-0D07-D2B8-4363C1F11D6D}"/>
              </a:ext>
            </a:extLst>
          </p:cNvPr>
          <p:cNvSpPr>
            <a:spLocks noGrp="1"/>
          </p:cNvSpPr>
          <p:nvPr>
            <p:ph type="dt" sz="half" idx="10"/>
          </p:nvPr>
        </p:nvSpPr>
        <p:spPr/>
        <p:txBody>
          <a:bodyPr/>
          <a:lstStyle/>
          <a:p>
            <a:fld id="{14B2C91B-C10F-455D-BCC4-2D03018C3ADE}" type="datetimeFigureOut">
              <a:rPr lang="en-GB" smtClean="0"/>
              <a:t>31/07/2026</a:t>
            </a:fld>
            <a:endParaRPr lang="en-GB"/>
          </a:p>
        </p:txBody>
      </p:sp>
      <p:sp>
        <p:nvSpPr>
          <p:cNvPr id="5" name="Footer Placeholder 4">
            <a:extLst>
              <a:ext uri="{FF2B5EF4-FFF2-40B4-BE49-F238E27FC236}">
                <a16:creationId xmlns:a16="http://schemas.microsoft.com/office/drawing/2014/main" id="{39950ED6-5692-7CDC-4EF8-47840EADD33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B451BAF-0C54-00EB-55F6-180F5B63B13F}"/>
              </a:ext>
            </a:extLst>
          </p:cNvPr>
          <p:cNvSpPr>
            <a:spLocks noGrp="1"/>
          </p:cNvSpPr>
          <p:nvPr>
            <p:ph type="sldNum" sz="quarter" idx="12"/>
          </p:nvPr>
        </p:nvSpPr>
        <p:spPr/>
        <p:txBody>
          <a:bodyPr/>
          <a:lstStyle/>
          <a:p>
            <a:fld id="{F7355937-3045-445C-A7A2-AB0616A52439}" type="slidenum">
              <a:rPr lang="en-GB" smtClean="0"/>
              <a:t>‹#›</a:t>
            </a:fld>
            <a:endParaRPr lang="en-GB"/>
          </a:p>
        </p:txBody>
      </p:sp>
    </p:spTree>
    <p:extLst>
      <p:ext uri="{BB962C8B-B14F-4D97-AF65-F5344CB8AC3E}">
        <p14:creationId xmlns:p14="http://schemas.microsoft.com/office/powerpoint/2010/main" val="31862870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175180C-DC83-FC05-19B2-5BAB708B56A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19505F3B-ED33-3C6A-3F3F-9DF7EFD645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3337F182-AF9B-2B22-1515-293DF9A2317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4B2C91B-C10F-455D-BCC4-2D03018C3ADE}" type="datetimeFigureOut">
              <a:rPr lang="en-GB" smtClean="0"/>
              <a:t>31/07/2026</a:t>
            </a:fld>
            <a:endParaRPr lang="en-GB"/>
          </a:p>
        </p:txBody>
      </p:sp>
      <p:sp>
        <p:nvSpPr>
          <p:cNvPr id="5" name="Footer Placeholder 4">
            <a:extLst>
              <a:ext uri="{FF2B5EF4-FFF2-40B4-BE49-F238E27FC236}">
                <a16:creationId xmlns:a16="http://schemas.microsoft.com/office/drawing/2014/main" id="{C2AC3503-A955-5B8D-46E7-0758A3345E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56A10E8D-D513-0209-9017-2751D07E1C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7355937-3045-445C-A7A2-AB0616A52439}" type="slidenum">
              <a:rPr lang="en-GB" smtClean="0"/>
              <a:t>‹#›</a:t>
            </a:fld>
            <a:endParaRPr lang="en-GB"/>
          </a:p>
        </p:txBody>
      </p:sp>
    </p:spTree>
    <p:extLst>
      <p:ext uri="{BB962C8B-B14F-4D97-AF65-F5344CB8AC3E}">
        <p14:creationId xmlns:p14="http://schemas.microsoft.com/office/powerpoint/2010/main" val="34465465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doi.org/10.1103/619s-p6md" TargetMode="External"/><Relationship Id="rId7" Type="http://schemas.openxmlformats.org/officeDocument/2006/relationships/hyperlink" Target="https://doi.org/10.48550/arXiv.2103.10974"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doi.org/10.1038/s42256-021-00302-5" TargetMode="External"/><Relationship Id="rId5" Type="http://schemas.openxmlformats.org/officeDocument/2006/relationships/hyperlink" Target="https://doi.org/10.12942/lrr-2000-5" TargetMode="External"/><Relationship Id="rId4" Type="http://schemas.openxmlformats.org/officeDocument/2006/relationships/hyperlink" Target="https://doi.org/10.1103/PhysRevD.77.024034"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FE8368-FCDC-A212-5920-2C066D582E4A}"/>
              </a:ext>
            </a:extLst>
          </p:cNvPr>
          <p:cNvSpPr>
            <a:spLocks noGrp="1"/>
          </p:cNvSpPr>
          <p:nvPr>
            <p:ph type="ctrTitle"/>
          </p:nvPr>
        </p:nvSpPr>
        <p:spPr>
          <a:xfrm>
            <a:off x="1524000" y="1122363"/>
            <a:ext cx="9144000" cy="1347882"/>
          </a:xfrm>
        </p:spPr>
        <p:txBody>
          <a:bodyPr>
            <a:normAutofit/>
          </a:bodyPr>
          <a:lstStyle/>
          <a:p>
            <a:r>
              <a:rPr lang="en-GB" sz="4000" dirty="0"/>
              <a:t>Generate BBH Initial Data Using Physics Informed </a:t>
            </a:r>
            <a:r>
              <a:rPr lang="en-GB" sz="4000" dirty="0" err="1"/>
              <a:t>DeepONet</a:t>
            </a:r>
            <a:r>
              <a:rPr lang="en-GB" sz="4000" dirty="0"/>
              <a:t> (</a:t>
            </a:r>
            <a:r>
              <a:rPr lang="en-GB" sz="4000" dirty="0" err="1"/>
              <a:t>PIDONet</a:t>
            </a:r>
            <a:r>
              <a:rPr lang="en-GB" sz="4000" dirty="0"/>
              <a:t>)</a:t>
            </a:r>
          </a:p>
        </p:txBody>
      </p:sp>
      <p:sp>
        <p:nvSpPr>
          <p:cNvPr id="3" name="Subtitle 2">
            <a:extLst>
              <a:ext uri="{FF2B5EF4-FFF2-40B4-BE49-F238E27FC236}">
                <a16:creationId xmlns:a16="http://schemas.microsoft.com/office/drawing/2014/main" id="{9EE540EC-C696-335C-9467-B173DDCE6E88}"/>
              </a:ext>
            </a:extLst>
          </p:cNvPr>
          <p:cNvSpPr>
            <a:spLocks noGrp="1"/>
          </p:cNvSpPr>
          <p:nvPr>
            <p:ph type="subTitle" idx="1"/>
          </p:nvPr>
        </p:nvSpPr>
        <p:spPr>
          <a:xfrm>
            <a:off x="1524000" y="2620370"/>
            <a:ext cx="9144000" cy="3115267"/>
          </a:xfrm>
        </p:spPr>
        <p:txBody>
          <a:bodyPr>
            <a:normAutofit lnSpcReduction="10000"/>
          </a:bodyPr>
          <a:lstStyle/>
          <a:p>
            <a:r>
              <a:rPr lang="en-GB" sz="1400" dirty="0"/>
              <a:t>Hilary Wu</a:t>
            </a:r>
          </a:p>
          <a:p>
            <a:endParaRPr lang="en-GB" sz="1400" dirty="0"/>
          </a:p>
          <a:p>
            <a:r>
              <a:rPr lang="en-GB" sz="1400" dirty="0"/>
              <a:t>Y.-C. Zhou </a:t>
            </a:r>
            <a:r>
              <a:rPr lang="en-GB" sz="1400" i="1" dirty="0"/>
              <a:t>et al.</a:t>
            </a:r>
            <a:r>
              <a:rPr lang="en-GB" sz="1400" dirty="0"/>
              <a:t>, “Solving Hamiltonian Constraint Equation with Physics-Informed Neural Networks,” </a:t>
            </a:r>
            <a:r>
              <a:rPr lang="en-GB" sz="1400" i="1" dirty="0"/>
              <a:t>Phys. Rev. D</a:t>
            </a:r>
            <a:r>
              <a:rPr lang="en-GB" sz="1400" dirty="0"/>
              <a:t>, Jun. 2026, </a:t>
            </a:r>
            <a:r>
              <a:rPr lang="en-GB" sz="1400" dirty="0" err="1"/>
              <a:t>doi</a:t>
            </a:r>
            <a:r>
              <a:rPr lang="en-GB" sz="1400" dirty="0"/>
              <a:t>: </a:t>
            </a:r>
            <a:r>
              <a:rPr lang="en-GB" sz="1400" dirty="0">
                <a:hlinkClick r:id="rId3"/>
              </a:rPr>
              <a:t>10.1103/619s-p6md</a:t>
            </a:r>
            <a:r>
              <a:rPr lang="en-GB" sz="1400" dirty="0"/>
              <a:t>.</a:t>
            </a:r>
          </a:p>
          <a:p>
            <a:r>
              <a:rPr lang="en-GB" sz="1400" dirty="0"/>
              <a:t>C. O. </a:t>
            </a:r>
            <a:r>
              <a:rPr lang="en-GB" sz="1400" dirty="0" err="1"/>
              <a:t>Lousto</a:t>
            </a:r>
            <a:r>
              <a:rPr lang="en-GB" sz="1400" dirty="0"/>
              <a:t> and Y. </a:t>
            </a:r>
            <a:r>
              <a:rPr lang="en-GB" sz="1400" dirty="0" err="1"/>
              <a:t>Zlochower</a:t>
            </a:r>
            <a:r>
              <a:rPr lang="en-GB" sz="1400" dirty="0"/>
              <a:t>, ‘Foundations of multiple black hole evolutions’, </a:t>
            </a:r>
            <a:r>
              <a:rPr lang="en-GB" sz="1400" i="1" dirty="0"/>
              <a:t>Phys. Rev. D</a:t>
            </a:r>
            <a:r>
              <a:rPr lang="en-GB" sz="1400" dirty="0"/>
              <a:t>, vol. 77, no. 2, p. 024034, Jan. 2008, </a:t>
            </a:r>
            <a:r>
              <a:rPr lang="en-GB" sz="1400" dirty="0" err="1"/>
              <a:t>doi</a:t>
            </a:r>
            <a:r>
              <a:rPr lang="en-GB" sz="1400" dirty="0"/>
              <a:t>: </a:t>
            </a:r>
            <a:r>
              <a:rPr lang="en-GB" sz="1400" dirty="0">
                <a:hlinkClick r:id="rId4"/>
              </a:rPr>
              <a:t>10.1103/PhysRevD.77.024034</a:t>
            </a:r>
            <a:r>
              <a:rPr lang="en-GB" sz="1400" dirty="0"/>
              <a:t>.</a:t>
            </a:r>
          </a:p>
          <a:p>
            <a:r>
              <a:rPr lang="en-GB" sz="1400" dirty="0"/>
              <a:t>G. B. Cook, ‘Initial Data for Numerical Relativity’, </a:t>
            </a:r>
            <a:r>
              <a:rPr lang="en-GB" sz="1400" i="1" dirty="0"/>
              <a:t>Living Rev. </a:t>
            </a:r>
            <a:r>
              <a:rPr lang="en-GB" sz="1400" i="1" dirty="0" err="1"/>
              <a:t>Relativ</a:t>
            </a:r>
            <a:r>
              <a:rPr lang="en-GB" sz="1400" i="1" dirty="0"/>
              <a:t>.</a:t>
            </a:r>
            <a:r>
              <a:rPr lang="en-GB" sz="1400" dirty="0"/>
              <a:t>, vol. 3, no. 1, p. 5, Dec. 2000, </a:t>
            </a:r>
            <a:r>
              <a:rPr lang="en-GB" sz="1400" dirty="0" err="1"/>
              <a:t>doi</a:t>
            </a:r>
            <a:r>
              <a:rPr lang="en-GB" sz="1400" dirty="0"/>
              <a:t>: </a:t>
            </a:r>
            <a:r>
              <a:rPr lang="en-GB" sz="1400" dirty="0">
                <a:hlinkClick r:id="rId5"/>
              </a:rPr>
              <a:t>10.12942/lrr-2000-5</a:t>
            </a:r>
            <a:r>
              <a:rPr lang="en-GB" sz="1400" dirty="0"/>
              <a:t>.</a:t>
            </a:r>
          </a:p>
          <a:p>
            <a:r>
              <a:rPr lang="en-GB" sz="1400" dirty="0"/>
              <a:t>L. Lu, P. Jin, G. Pang, Z. Zhang, and G. E. </a:t>
            </a:r>
            <a:r>
              <a:rPr lang="en-GB" sz="1400" dirty="0" err="1"/>
              <a:t>Karniadakis</a:t>
            </a:r>
            <a:r>
              <a:rPr lang="en-GB" sz="1400" dirty="0"/>
              <a:t>, ‘Learning nonlinear operators via </a:t>
            </a:r>
            <a:r>
              <a:rPr lang="en-GB" sz="1400" dirty="0" err="1"/>
              <a:t>DeepONet</a:t>
            </a:r>
            <a:r>
              <a:rPr lang="en-GB" sz="1400" dirty="0"/>
              <a:t> based on the universal approximation theorem of operators’, </a:t>
            </a:r>
            <a:r>
              <a:rPr lang="en-GB" sz="1400" i="1" dirty="0"/>
              <a:t>Nat Mach Intell</a:t>
            </a:r>
            <a:r>
              <a:rPr lang="en-GB" sz="1400" dirty="0"/>
              <a:t>, vol. 3, no. 3, pp. 218–229, Mar. 2021, </a:t>
            </a:r>
            <a:r>
              <a:rPr lang="en-GB" sz="1400" dirty="0" err="1"/>
              <a:t>doi</a:t>
            </a:r>
            <a:r>
              <a:rPr lang="en-GB" sz="1400" dirty="0"/>
              <a:t>: </a:t>
            </a:r>
            <a:r>
              <a:rPr lang="en-GB" sz="1400" dirty="0">
                <a:hlinkClick r:id="rId6"/>
              </a:rPr>
              <a:t>10.1038/s42256-021-00302-5</a:t>
            </a:r>
            <a:r>
              <a:rPr lang="en-GB" sz="1400" dirty="0"/>
              <a:t>.</a:t>
            </a:r>
          </a:p>
          <a:p>
            <a:r>
              <a:rPr lang="en-GB" sz="1400" dirty="0"/>
              <a:t>S. Wang, H. Wang, and P. </a:t>
            </a:r>
            <a:r>
              <a:rPr lang="en-GB" sz="1400" dirty="0" err="1"/>
              <a:t>Perdikaris</a:t>
            </a:r>
            <a:r>
              <a:rPr lang="en-GB" sz="1400" dirty="0"/>
              <a:t>, ‘Learning the solution operator of parametric partial differential equations with physics-informed </a:t>
            </a:r>
            <a:r>
              <a:rPr lang="en-GB" sz="1400" dirty="0" err="1"/>
              <a:t>DeepOnets</a:t>
            </a:r>
            <a:r>
              <a:rPr lang="en-GB" sz="1400" dirty="0"/>
              <a:t>’, Mar. 19, 2021, </a:t>
            </a:r>
            <a:r>
              <a:rPr lang="en-GB" sz="1400" i="1" dirty="0" err="1"/>
              <a:t>arXiv</a:t>
            </a:r>
            <a:r>
              <a:rPr lang="en-GB" sz="1400" dirty="0"/>
              <a:t>: arXiv:2103.10974. </a:t>
            </a:r>
            <a:r>
              <a:rPr lang="en-GB" sz="1400" dirty="0" err="1"/>
              <a:t>doi</a:t>
            </a:r>
            <a:r>
              <a:rPr lang="en-GB" sz="1400" dirty="0"/>
              <a:t>: </a:t>
            </a:r>
            <a:r>
              <a:rPr lang="en-GB" sz="1400" dirty="0">
                <a:hlinkClick r:id="rId7"/>
              </a:rPr>
              <a:t>10.48550/arXiv.2103.10974</a:t>
            </a:r>
            <a:r>
              <a:rPr lang="en-GB" sz="1400" dirty="0"/>
              <a:t>.</a:t>
            </a:r>
            <a:endParaRPr lang="en-GB" sz="700" dirty="0"/>
          </a:p>
        </p:txBody>
      </p:sp>
    </p:spTree>
    <p:extLst>
      <p:ext uri="{BB962C8B-B14F-4D97-AF65-F5344CB8AC3E}">
        <p14:creationId xmlns:p14="http://schemas.microsoft.com/office/powerpoint/2010/main" val="13686506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68167C-C02A-8D7F-15BB-4F5733C7EC01}"/>
              </a:ext>
            </a:extLst>
          </p:cNvPr>
          <p:cNvSpPr>
            <a:spLocks noGrp="1"/>
          </p:cNvSpPr>
          <p:nvPr>
            <p:ph type="title"/>
          </p:nvPr>
        </p:nvSpPr>
        <p:spPr/>
        <p:txBody>
          <a:bodyPr/>
          <a:lstStyle/>
          <a:p>
            <a:r>
              <a:rPr lang="en-GB" dirty="0"/>
              <a:t>Issues with Physics Informed FNO</a:t>
            </a:r>
          </a:p>
        </p:txBody>
      </p:sp>
      <p:sp>
        <p:nvSpPr>
          <p:cNvPr id="3" name="Content Placeholder 2">
            <a:extLst>
              <a:ext uri="{FF2B5EF4-FFF2-40B4-BE49-F238E27FC236}">
                <a16:creationId xmlns:a16="http://schemas.microsoft.com/office/drawing/2014/main" id="{7DF6B410-A2FF-2EC0-9000-46ECD601133A}"/>
              </a:ext>
            </a:extLst>
          </p:cNvPr>
          <p:cNvSpPr>
            <a:spLocks noGrp="1"/>
          </p:cNvSpPr>
          <p:nvPr>
            <p:ph idx="1"/>
          </p:nvPr>
        </p:nvSpPr>
        <p:spPr/>
        <p:txBody>
          <a:bodyPr/>
          <a:lstStyle/>
          <a:p>
            <a:pPr marL="0" indent="0">
              <a:buNone/>
            </a:pPr>
            <a:r>
              <a:rPr lang="en-GB" dirty="0"/>
              <a:t>FNO requires Fourier transforming an entire grid of data</a:t>
            </a:r>
          </a:p>
          <a:p>
            <a:pPr lvl="1"/>
            <a:r>
              <a:rPr lang="en-GB" dirty="0" err="1"/>
              <a:t>TwoPunctures</a:t>
            </a:r>
            <a:r>
              <a:rPr lang="en-GB" dirty="0"/>
              <a:t> generate data in a spherical domain</a:t>
            </a:r>
          </a:p>
          <a:p>
            <a:pPr lvl="1"/>
            <a:r>
              <a:rPr lang="en-GB" dirty="0"/>
              <a:t>Some datapoints are removed to be used for validation</a:t>
            </a:r>
          </a:p>
          <a:p>
            <a:pPr lvl="1"/>
            <a:endParaRPr lang="en-GB" dirty="0"/>
          </a:p>
          <a:p>
            <a:pPr lvl="1"/>
            <a:endParaRPr lang="en-GB" dirty="0"/>
          </a:p>
          <a:p>
            <a:pPr marL="0" indent="0">
              <a:buNone/>
            </a:pPr>
            <a:r>
              <a:rPr lang="en-GB" dirty="0"/>
              <a:t>Trained PINO can only predict correction field for a rectangular domain</a:t>
            </a:r>
          </a:p>
          <a:p>
            <a:pPr lvl="1"/>
            <a:r>
              <a:rPr lang="en-GB" dirty="0"/>
              <a:t>Cannot validate against individual points or test against a spherical domain</a:t>
            </a:r>
          </a:p>
          <a:p>
            <a:pPr lvl="1"/>
            <a:r>
              <a:rPr lang="en-GB" dirty="0"/>
              <a:t>Cannot generate high-resolution datasets due to memory constraints</a:t>
            </a:r>
          </a:p>
          <a:p>
            <a:pPr lvl="2"/>
            <a:r>
              <a:rPr lang="en-GB" dirty="0" err="1"/>
              <a:t>TwoPunctures</a:t>
            </a:r>
            <a:r>
              <a:rPr lang="en-GB" dirty="0"/>
              <a:t> can generate datasets in 1D or 2D domains</a:t>
            </a:r>
          </a:p>
          <a:p>
            <a:pPr lvl="1"/>
            <a:endParaRPr lang="en-GB" dirty="0"/>
          </a:p>
        </p:txBody>
      </p:sp>
    </p:spTree>
    <p:extLst>
      <p:ext uri="{BB962C8B-B14F-4D97-AF65-F5344CB8AC3E}">
        <p14:creationId xmlns:p14="http://schemas.microsoft.com/office/powerpoint/2010/main" val="1357526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5F5C17-B7FB-C88D-9872-395A86E8C193}"/>
              </a:ext>
            </a:extLst>
          </p:cNvPr>
          <p:cNvSpPr>
            <a:spLocks noGrp="1"/>
          </p:cNvSpPr>
          <p:nvPr>
            <p:ph type="title"/>
          </p:nvPr>
        </p:nvSpPr>
        <p:spPr/>
        <p:txBody>
          <a:bodyPr/>
          <a:lstStyle/>
          <a:p>
            <a:r>
              <a:rPr lang="en-GB" dirty="0"/>
              <a:t>Theory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A2CEAFD-F254-5C1B-1AAA-AE42879A6ABB}"/>
                  </a:ext>
                </a:extLst>
              </p:cNvPr>
              <p:cNvSpPr>
                <a:spLocks noGrp="1"/>
              </p:cNvSpPr>
              <p:nvPr>
                <p:ph idx="1"/>
              </p:nvPr>
            </p:nvSpPr>
            <p:spPr/>
            <p:txBody>
              <a:bodyPr/>
              <a:lstStyle/>
              <a:p>
                <a:pPr marL="0" indent="0">
                  <a:buNone/>
                </a:pPr>
                <a:r>
                  <a:rPr lang="en-GB" dirty="0"/>
                  <a:t>Einstein’s Field Equations:</a:t>
                </a:r>
              </a:p>
              <a:p>
                <a:pPr marL="0" indent="0">
                  <a:buNone/>
                </a:pPr>
                <a:endParaRPr lang="en-GB"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𝜇𝜈</m:t>
                          </m:r>
                        </m:sub>
                      </m:sSub>
                      <m:r>
                        <a:rPr lang="en-US" i="1">
                          <a:latin typeface="Cambria Math" panose="02040503050406030204" pitchFamily="18" charset="0"/>
                        </a:rPr>
                        <m:t>=8</m:t>
                      </m:r>
                      <m:r>
                        <a:rPr lang="en-US" i="1">
                          <a:latin typeface="Cambria Math" panose="02040503050406030204" pitchFamily="18" charset="0"/>
                        </a:rPr>
                        <m:t>𝜋</m:t>
                      </m:r>
                      <m:r>
                        <a:rPr lang="en-US" i="1">
                          <a:latin typeface="Cambria Math" panose="02040503050406030204" pitchFamily="18" charset="0"/>
                        </a:rPr>
                        <m:t>𝐺</m:t>
                      </m:r>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i="1">
                              <a:latin typeface="Cambria Math" panose="02040503050406030204" pitchFamily="18" charset="0"/>
                            </a:rPr>
                            <m:t>𝜇𝜈</m:t>
                          </m:r>
                        </m:sub>
                      </m:sSub>
                    </m:oMath>
                  </m:oMathPara>
                </a14:m>
                <a:endParaRPr lang="en-GB" dirty="0"/>
              </a:p>
              <a:p>
                <a:pPr marL="0" indent="0">
                  <a:buNone/>
                </a:pPr>
                <a:endParaRPr lang="en-GB" dirty="0"/>
              </a:p>
              <a:p>
                <a:pPr marL="0" indent="0">
                  <a:buNone/>
                </a:pPr>
                <a:r>
                  <a:rPr lang="en-GB" dirty="0"/>
                  <a:t>Hamiltonian Constraint Equation:</a:t>
                </a:r>
              </a:p>
              <a:p>
                <a:pPr marL="0" indent="0">
                  <a:buNone/>
                </a:pPr>
                <a:endParaRPr lang="en-GB" dirty="0"/>
              </a:p>
              <a:p>
                <a:pPr marL="0" indent="0">
                  <a:buNone/>
                </a:pPr>
                <a14:m>
                  <m:oMathPara xmlns:m="http://schemas.openxmlformats.org/officeDocument/2006/math">
                    <m:oMath>
                      <m:r>
                        <m:rPr>
                          <m:sty m:val="p"/>
                        </m:rPr>
                        <a:rPr lang="en-US" i="1">
                          <a:latin typeface="Cambria Math" panose="02040503050406030204" pitchFamily="18" charset="0"/>
                        </a:rPr>
                        <m:t>Δu</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8</m:t>
                          </m:r>
                        </m:den>
                      </m:f>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1+</m:t>
                              </m:r>
                              <m:nary>
                                <m:naryPr>
                                  <m:chr m:val="∑"/>
                                  <m:limLoc m:val="undOvr"/>
                                  <m:supHide m:val="on"/>
                                  <m:ctrlPr>
                                    <a:rPr lang="en-US" i="1">
                                      <a:latin typeface="Cambria Math" panose="02040503050406030204" pitchFamily="18" charset="0"/>
                                    </a:rPr>
                                  </m:ctrlPr>
                                </m:naryPr>
                                <m:sub>
                                  <m:r>
                                    <a:rPr lang="en-US" i="1">
                                      <a:latin typeface="Cambria Math" panose="02040503050406030204" pitchFamily="18" charset="0"/>
                                    </a:rPr>
                                    <m:t>𝑛</m:t>
                                  </m:r>
                                </m:sub>
                                <m:sup/>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𝑚</m:t>
                                          </m:r>
                                        </m:e>
                                        <m:sub>
                                          <m:r>
                                            <a:rPr lang="en-US" i="1">
                                              <a:latin typeface="Cambria Math" panose="02040503050406030204" pitchFamily="18" charset="0"/>
                                            </a:rPr>
                                            <m:t>𝑛</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𝑛</m:t>
                                          </m:r>
                                        </m:sub>
                                      </m:sSub>
                                    </m:den>
                                  </m:f>
                                </m:e>
                              </m:nary>
                              <m:r>
                                <a:rPr lang="en-US" i="1">
                                  <a:latin typeface="Cambria Math" panose="02040503050406030204" pitchFamily="18" charset="0"/>
                                </a:rPr>
                                <m:t>+</m:t>
                              </m:r>
                              <m:r>
                                <m:rPr>
                                  <m:sty m:val="p"/>
                                </m:rPr>
                                <a:rPr lang="en-US" i="1">
                                  <a:latin typeface="Cambria Math" panose="02040503050406030204" pitchFamily="18" charset="0"/>
                                </a:rPr>
                                <m:t>u</m:t>
                              </m:r>
                            </m:e>
                          </m:d>
                        </m:e>
                        <m:sup>
                          <m:r>
                            <a:rPr lang="en-US" i="1">
                              <a:latin typeface="Cambria Math" panose="02040503050406030204" pitchFamily="18" charset="0"/>
                            </a:rPr>
                            <m:t>−7</m:t>
                          </m:r>
                        </m:sup>
                      </m:sSup>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𝐾</m:t>
                              </m:r>
                            </m:e>
                          </m:acc>
                        </m:e>
                        <m:sub>
                          <m:r>
                            <a:rPr lang="en-US" i="1">
                              <a:latin typeface="Cambria Math" panose="02040503050406030204" pitchFamily="18" charset="0"/>
                            </a:rPr>
                            <m:t>𝑖𝑗</m:t>
                          </m:r>
                        </m:sub>
                      </m:sSub>
                      <m:sSup>
                        <m:sSupPr>
                          <m:ctrlPr>
                            <a:rPr lang="en-US" i="1">
                              <a:latin typeface="Cambria Math" panose="02040503050406030204" pitchFamily="18" charset="0"/>
                            </a:rPr>
                          </m:ctrlPr>
                        </m:sSupPr>
                        <m:e>
                          <m:acc>
                            <m:accPr>
                              <m:chr m:val="̅"/>
                              <m:ctrlPr>
                                <a:rPr lang="en-US" i="1">
                                  <a:latin typeface="Cambria Math" panose="02040503050406030204" pitchFamily="18" charset="0"/>
                                </a:rPr>
                              </m:ctrlPr>
                            </m:accPr>
                            <m:e>
                              <m:r>
                                <a:rPr lang="en-US" i="1">
                                  <a:latin typeface="Cambria Math" panose="02040503050406030204" pitchFamily="18" charset="0"/>
                                </a:rPr>
                                <m:t>𝐾</m:t>
                              </m:r>
                            </m:e>
                          </m:acc>
                        </m:e>
                        <m:sup>
                          <m:r>
                            <a:rPr lang="en-US" i="1">
                              <a:latin typeface="Cambria Math" panose="02040503050406030204" pitchFamily="18" charset="0"/>
                            </a:rPr>
                            <m:t>𝑖𝑗</m:t>
                          </m:r>
                        </m:sup>
                      </m:sSup>
                      <m:r>
                        <a:rPr lang="en-US" i="1">
                          <a:latin typeface="Cambria Math" panose="02040503050406030204" pitchFamily="18" charset="0"/>
                        </a:rPr>
                        <m:t>=0</m:t>
                      </m:r>
                    </m:oMath>
                  </m:oMathPara>
                </a14:m>
                <a:endParaRPr lang="en-US" dirty="0"/>
              </a:p>
              <a:p>
                <a:pPr marL="0" indent="0">
                  <a:buNone/>
                </a:pPr>
                <a:endParaRPr lang="en-GB" dirty="0"/>
              </a:p>
            </p:txBody>
          </p:sp>
        </mc:Choice>
        <mc:Fallback>
          <p:sp>
            <p:nvSpPr>
              <p:cNvPr id="3" name="Content Placeholder 2">
                <a:extLst>
                  <a:ext uri="{FF2B5EF4-FFF2-40B4-BE49-F238E27FC236}">
                    <a16:creationId xmlns:a16="http://schemas.microsoft.com/office/drawing/2014/main" id="{5A2CEAFD-F254-5C1B-1AAA-AE42879A6ABB}"/>
                  </a:ext>
                </a:extLst>
              </p:cNvPr>
              <p:cNvSpPr>
                <a:spLocks noGrp="1" noRot="1" noChangeAspect="1" noMove="1" noResize="1" noEditPoints="1" noAdjustHandles="1" noChangeArrowheads="1" noChangeShapeType="1" noTextEdit="1"/>
              </p:cNvSpPr>
              <p:nvPr>
                <p:ph idx="1"/>
              </p:nvPr>
            </p:nvSpPr>
            <p:spPr>
              <a:blipFill>
                <a:blip r:embed="rId3"/>
                <a:stretch>
                  <a:fillRect l="-1217" t="-2381"/>
                </a:stretch>
              </a:blipFill>
            </p:spPr>
            <p:txBody>
              <a:bodyPr/>
              <a:lstStyle/>
              <a:p>
                <a:r>
                  <a:rPr lang="en-GB">
                    <a:noFill/>
                  </a:rPr>
                  <a:t> </a:t>
                </a:r>
              </a:p>
            </p:txBody>
          </p:sp>
        </mc:Fallback>
      </mc:AlternateContent>
    </p:spTree>
    <p:extLst>
      <p:ext uri="{BB962C8B-B14F-4D97-AF65-F5344CB8AC3E}">
        <p14:creationId xmlns:p14="http://schemas.microsoft.com/office/powerpoint/2010/main" val="870757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Placeholder 5">
            <a:extLst>
              <a:ext uri="{FF2B5EF4-FFF2-40B4-BE49-F238E27FC236}">
                <a16:creationId xmlns:a16="http://schemas.microsoft.com/office/drawing/2014/main" id="{554EE638-E6B3-7C24-69CB-6B85927E05C3}"/>
              </a:ext>
            </a:extLst>
          </p:cNvPr>
          <p:cNvPicPr>
            <a:picLocks noChangeAspect="1"/>
          </p:cNvPicPr>
          <p:nvPr/>
        </p:nvPicPr>
        <p:blipFill>
          <a:blip r:embed="rId2"/>
          <a:srcRect r="4420" b="-1"/>
          <a:stretch>
            <a:fillRect/>
          </a:stretch>
        </p:blipFill>
        <p:spPr>
          <a:xfrm>
            <a:off x="3497109" y="82414"/>
            <a:ext cx="5197781" cy="6693172"/>
          </a:xfrm>
          <a:prstGeom prst="rect">
            <a:avLst/>
          </a:prstGeom>
        </p:spPr>
      </p:pic>
    </p:spTree>
    <p:extLst>
      <p:ext uri="{BB962C8B-B14F-4D97-AF65-F5344CB8AC3E}">
        <p14:creationId xmlns:p14="http://schemas.microsoft.com/office/powerpoint/2010/main" val="37365825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89913C-495F-FBE7-3118-4FD44431BDDE}"/>
              </a:ext>
            </a:extLst>
          </p:cNvPr>
          <p:cNvSpPr>
            <a:spLocks noGrp="1"/>
          </p:cNvSpPr>
          <p:nvPr>
            <p:ph type="title"/>
          </p:nvPr>
        </p:nvSpPr>
        <p:spPr/>
        <p:txBody>
          <a:bodyPr/>
          <a:lstStyle/>
          <a:p>
            <a:r>
              <a:rPr lang="en-GB" dirty="0"/>
              <a:t>Loss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6105865-72B0-7026-5848-AD934C2A4FCA}"/>
                  </a:ext>
                </a:extLst>
              </p:cNvPr>
              <p:cNvSpPr>
                <a:spLocks noGrp="1"/>
              </p:cNvSpPr>
              <p:nvPr>
                <p:ph idx="1"/>
              </p:nvPr>
            </p:nvSpPr>
            <p:spPr/>
            <p:txBody>
              <a:bodyPr>
                <a:normAutofit/>
              </a:bodyPr>
              <a:lstStyle/>
              <a:p>
                <a:pPr marL="0" indent="0">
                  <a:buNone/>
                </a:pPr>
                <a:endParaRPr lang="en-US" b="0" i="1" dirty="0">
                  <a:latin typeface="Cambria Math" panose="02040503050406030204" pitchFamily="18" charset="0"/>
                </a:endParaRPr>
              </a:p>
              <a:p>
                <a:pPr marL="0" indent="0" algn="ctr">
                  <a:buNone/>
                </a:pPr>
                <a14:m>
                  <m:oMath xmlns:m="http://schemas.openxmlformats.org/officeDocument/2006/math">
                    <m:r>
                      <a:rPr lang="en-US" i="1">
                        <a:latin typeface="Cambria Math" panose="02040503050406030204" pitchFamily="18" charset="0"/>
                      </a:rPr>
                      <m:t>ℒ</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m:t>
                        </m:r>
                      </m:sub>
                    </m:sSub>
                  </m:oMath>
                </a14:m>
                <a:r>
                  <a:rPr lang="en-US" b="0" dirty="0"/>
                  <a:t>soft-</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𝑟𝑜𝑏</m:t>
                        </m:r>
                      </m:sub>
                    </m:sSub>
                    <m:sSub>
                      <m:sSubPr>
                        <m:ctrlPr>
                          <a:rPr lang="en-US" i="1">
                            <a:latin typeface="Cambria Math" panose="02040503050406030204" pitchFamily="18" charset="0"/>
                          </a:rPr>
                        </m:ctrlPr>
                      </m:sSubPr>
                      <m:e>
                        <m:r>
                          <a:rPr lang="en-US" i="1">
                            <a:latin typeface="Cambria Math" panose="02040503050406030204" pitchFamily="18" charset="0"/>
                          </a:rPr>
                          <m:t>ℒ</m:t>
                        </m:r>
                      </m:e>
                      <m:sub>
                        <m:r>
                          <a:rPr lang="en-US" i="1">
                            <a:latin typeface="Cambria Math" panose="02040503050406030204" pitchFamily="18" charset="0"/>
                          </a:rPr>
                          <m:t>𝐵𝐶</m:t>
                        </m:r>
                      </m:sub>
                    </m:sSub>
                  </m:oMath>
                </a14:m>
                <a:endParaRPr lang="en-US" b="0" dirty="0"/>
              </a:p>
              <a:p>
                <a:pPr marL="0" indent="0">
                  <a:buNone/>
                </a:pPr>
                <a:endParaRPr lang="en-GB" dirty="0"/>
              </a:p>
              <a:p>
                <a:pPr marL="0" indent="0">
                  <a:buNone/>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2</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−8</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−11</m:t>
                          </m:r>
                        </m:sup>
                      </m:sSup>
                    </m:oMath>
                  </m:oMathPara>
                </a14:m>
                <a:endParaRPr lang="en-US" b="0" dirty="0"/>
              </a:p>
              <a:p>
                <a:pPr marL="0" indent="0">
                  <a:buNone/>
                </a:pPr>
                <a:endParaRPr lang="en-US" dirty="0"/>
              </a:p>
              <a:p>
                <a:pPr marL="0" indent="0">
                  <a:buNone/>
                </a:pPr>
                <a:r>
                  <a:rPr lang="en-US" b="0" dirty="0"/>
                  <a:t>soft-</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−5</m:t>
                        </m:r>
                      </m:sup>
                    </m:sSup>
                  </m:oMath>
                </a14:m>
                <a:endParaRPr lang="en-US" b="0" dirty="0"/>
              </a:p>
              <a:p>
                <a:pPr marL="0" indent="0">
                  <a:buNone/>
                </a:pPr>
                <a:endParaRPr lang="en-US" dirty="0"/>
              </a:p>
              <a:p>
                <a:pPr marL="0" indent="0">
                  <a:buNone/>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ℒ</m:t>
                          </m:r>
                        </m:e>
                        <m:sub>
                          <m:r>
                            <a:rPr lang="en-US" b="0" i="1" smtClean="0">
                              <a:latin typeface="Cambria Math" panose="02040503050406030204" pitchFamily="18" charset="0"/>
                            </a:rPr>
                            <m:t>𝐵𝐶</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−12</m:t>
                          </m:r>
                        </m:sup>
                      </m:sSup>
                    </m:oMath>
                  </m:oMathPara>
                </a14:m>
                <a:endParaRPr lang="en-US" b="0" dirty="0"/>
              </a:p>
              <a:p>
                <a:pPr marL="0" indent="0">
                  <a:buNone/>
                </a:pPr>
                <a:endParaRPr lang="en-US" b="0" dirty="0"/>
              </a:p>
              <a:p>
                <a:pPr marL="0" indent="0">
                  <a:buNone/>
                </a:pPr>
                <a:endParaRPr lang="en-US" b="0" dirty="0"/>
              </a:p>
              <a:p>
                <a:pPr marL="0" indent="0">
                  <a:buNone/>
                </a:pPr>
                <a:endParaRPr lang="en-US" b="0" dirty="0"/>
              </a:p>
              <a:p>
                <a:pPr marL="0" indent="0">
                  <a:buNone/>
                </a:pPr>
                <a:endParaRPr lang="en-US" b="0" dirty="0"/>
              </a:p>
              <a:p>
                <a:pPr marL="0" indent="0">
                  <a:buNone/>
                </a:pPr>
                <a:endParaRPr lang="en-US" b="0"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06105865-72B0-7026-5848-AD934C2A4FCA}"/>
                  </a:ext>
                </a:extLst>
              </p:cNvPr>
              <p:cNvSpPr>
                <a:spLocks noGrp="1" noRot="1" noChangeAspect="1" noMove="1" noResize="1" noEditPoints="1" noAdjustHandles="1" noChangeArrowheads="1" noChangeShapeType="1" noTextEdit="1"/>
              </p:cNvSpPr>
              <p:nvPr>
                <p:ph idx="1"/>
              </p:nvPr>
            </p:nvSpPr>
            <p:spPr>
              <a:blipFill>
                <a:blip r:embed="rId3"/>
                <a:stretch>
                  <a:fillRect l="-1217"/>
                </a:stretch>
              </a:blipFill>
            </p:spPr>
            <p:txBody>
              <a:bodyPr/>
              <a:lstStyle/>
              <a:p>
                <a:r>
                  <a:rPr lang="en-GB">
                    <a:noFill/>
                  </a:rPr>
                  <a:t> </a:t>
                </a:r>
              </a:p>
            </p:txBody>
          </p:sp>
        </mc:Fallback>
      </mc:AlternateContent>
    </p:spTree>
    <p:extLst>
      <p:ext uri="{BB962C8B-B14F-4D97-AF65-F5344CB8AC3E}">
        <p14:creationId xmlns:p14="http://schemas.microsoft.com/office/powerpoint/2010/main" val="803992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7F84E-BE1B-B59F-C328-C0E7F9396F30}"/>
              </a:ext>
            </a:extLst>
          </p:cNvPr>
          <p:cNvSpPr>
            <a:spLocks noGrp="1"/>
          </p:cNvSpPr>
          <p:nvPr>
            <p:ph type="title"/>
          </p:nvPr>
        </p:nvSpPr>
        <p:spPr/>
        <p:txBody>
          <a:bodyPr/>
          <a:lstStyle/>
          <a:p>
            <a:r>
              <a:rPr lang="en-GB" dirty="0"/>
              <a:t>Exponential Moving Average (EMA) method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09852CE-BB42-63E7-1A4A-891F79F8BF06}"/>
                  </a:ext>
                </a:extLst>
              </p:cNvPr>
              <p:cNvSpPr>
                <a:spLocks noGrp="1"/>
              </p:cNvSpPr>
              <p:nvPr>
                <p:ph idx="1"/>
              </p:nvPr>
            </p:nvSpPr>
            <p:spPr/>
            <p:txBody>
              <a:bodyPr>
                <a:normAutofit/>
              </a:bodyPr>
              <a:lstStyle/>
              <a:p>
                <a:pPr marL="0" indent="0">
                  <a:buNone/>
                </a:pPr>
                <a14:m>
                  <m:oMathPara xmlns:m="http://schemas.openxmlformats.org/officeDocument/2006/math">
                    <m:oMath>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𝐿</m:t>
                              </m:r>
                            </m:e>
                          </m:acc>
                        </m:e>
                        <m:sub>
                          <m:r>
                            <a:rPr lang="en-US" b="0" i="1" smtClean="0">
                              <a:latin typeface="Cambria Math" panose="02040503050406030204" pitchFamily="18" charset="0"/>
                            </a:rPr>
                            <m:t>𝑘</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𝑛</m:t>
                              </m:r>
                            </m:sub>
                          </m:sSub>
                        </m:e>
                      </m:d>
                      <m:r>
                        <a:rPr lang="en-US" b="0" i="1" smtClean="0">
                          <a:latin typeface="Cambria Math" panose="02040503050406030204" pitchFamily="18" charset="0"/>
                        </a:rPr>
                        <m:t>=</m:t>
                      </m:r>
                      <m:r>
                        <a:rPr lang="en-US" b="0" i="1" smtClean="0">
                          <a:latin typeface="Cambria Math" panose="02040503050406030204" pitchFamily="18" charset="0"/>
                        </a:rPr>
                        <m:t>𝛼</m:t>
                      </m:r>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𝐿</m:t>
                              </m:r>
                            </m:e>
                          </m:acc>
                        </m:e>
                        <m:sub>
                          <m:r>
                            <a:rPr lang="en-US" b="0" i="1" smtClean="0">
                              <a:latin typeface="Cambria Math" panose="02040503050406030204" pitchFamily="18" charset="0"/>
                            </a:rPr>
                            <m:t>𝑘</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𝑛</m:t>
                              </m:r>
                              <m:r>
                                <a:rPr lang="en-US" b="0" i="1" smtClean="0">
                                  <a:latin typeface="Cambria Math" panose="02040503050406030204" pitchFamily="18" charset="0"/>
                                </a:rPr>
                                <m:t>−1</m:t>
                              </m:r>
                            </m:sub>
                          </m:sSub>
                        </m:e>
                      </m:d>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0" i="1" smtClean="0">
                              <a:latin typeface="Cambria Math" panose="02040503050406030204" pitchFamily="18" charset="0"/>
                            </a:rPr>
                            <m:t>𝛼</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𝑘</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𝑛</m:t>
                              </m:r>
                            </m:sub>
                          </m:sSub>
                        </m:e>
                      </m:d>
                    </m:oMath>
                  </m:oMathPara>
                </a14:m>
                <a:endParaRPr lang="en-US" b="0" i="1" dirty="0">
                  <a:latin typeface="Cambria Math" panose="02040503050406030204" pitchFamily="18" charset="0"/>
                </a:endParaRPr>
              </a:p>
              <a:p>
                <a:pPr marL="0" indent="0">
                  <a:buNone/>
                </a:pPr>
                <a:endParaRPr lang="en-US" b="0" i="1" dirty="0">
                  <a:latin typeface="Cambria Math" panose="02040503050406030204" pitchFamily="18" charset="0"/>
                </a:endParaRPr>
              </a:p>
              <a:p>
                <a:pPr marL="0" indent="0" algn="ctr">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𝑘</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2</m:t>
                        </m:r>
                      </m:sub>
                    </m:sSub>
                    <m:r>
                      <a:rPr lang="en-US" i="1">
                        <a:latin typeface="Cambria Math" panose="02040503050406030204" pitchFamily="18" charset="0"/>
                      </a:rPr>
                      <m:t>,</m:t>
                    </m:r>
                  </m:oMath>
                </a14:m>
                <a:r>
                  <a:rPr lang="en-US" b="0" dirty="0">
                    <a:latin typeface="Cambria Math" panose="02040503050406030204" pitchFamily="18" charset="0"/>
                  </a:rPr>
                  <a:t>soft-</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ℒ</m:t>
                        </m:r>
                      </m:e>
                      <m:sub>
                        <m:r>
                          <a:rPr lang="en-US" i="1">
                            <a:latin typeface="Cambria Math" panose="02040503050406030204" pitchFamily="18" charset="0"/>
                          </a:rPr>
                          <m:t>𝐵𝐶</m:t>
                        </m:r>
                      </m:sub>
                    </m:sSub>
                    <m:r>
                      <a:rPr lang="en-US" i="1">
                        <a:latin typeface="Cambria Math" panose="02040503050406030204" pitchFamily="18" charset="0"/>
                      </a:rPr>
                      <m:t>}</m:t>
                    </m:r>
                  </m:oMath>
                </a14:m>
                <a:endParaRPr lang="en-US" dirty="0"/>
              </a:p>
              <a:p>
                <a:pPr marL="0" indent="0">
                  <a:buNone/>
                </a:pPr>
                <a:endParaRPr lang="en-GB" dirty="0"/>
              </a:p>
              <a:p>
                <a:pPr marL="0" indent="0" algn="ctr">
                  <a:buNone/>
                </a:pPr>
                <a14:m>
                  <m:oMath xmlns:m="http://schemas.openxmlformats.org/officeDocument/2006/math">
                    <m:r>
                      <a:rPr lang="en-US" b="0" i="1" smtClean="0">
                        <a:latin typeface="Cambria Math" panose="02040503050406030204" pitchFamily="18" charset="0"/>
                      </a:rPr>
                      <m:t>𝛼</m:t>
                    </m:r>
                    <m:r>
                      <a:rPr lang="en-US" b="0" i="1" smtClean="0">
                        <a:latin typeface="Cambria Math" panose="02040503050406030204" pitchFamily="18" charset="0"/>
                      </a:rPr>
                      <m:t>∈</m:t>
                    </m:r>
                    <m:d>
                      <m:dPr>
                        <m:beg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r>
                  <a:rPr lang="en-US" dirty="0"/>
                  <a:t>, chosen to be 0.99</a:t>
                </a:r>
              </a:p>
              <a:p>
                <a:pPr marL="0" indent="0">
                  <a:buNone/>
                </a:pPr>
                <a:endParaRPr lang="en-US" b="0" dirty="0"/>
              </a:p>
              <a:p>
                <a:pPr marL="0" indent="0">
                  <a:buNone/>
                </a:pP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𝐿</m:t>
                          </m:r>
                        </m:e>
                      </m:acc>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𝑛</m:t>
                              </m:r>
                            </m:sub>
                          </m:sSub>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𝑘</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𝑛</m:t>
                                  </m:r>
                                </m:sub>
                              </m:sSub>
                            </m:e>
                          </m:d>
                        </m:num>
                        <m:den>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𝐿</m:t>
                                  </m:r>
                                </m:e>
                              </m:acc>
                            </m:e>
                            <m:sub>
                              <m:r>
                                <a:rPr lang="en-US" b="0" i="1" smtClean="0">
                                  <a:latin typeface="Cambria Math" panose="02040503050406030204" pitchFamily="18" charset="0"/>
                                </a:rPr>
                                <m:t>𝑘</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𝑛</m:t>
                                  </m:r>
                                </m:sub>
                              </m:sSub>
                            </m:e>
                          </m:d>
                        </m:den>
                      </m:f>
                    </m:oMath>
                  </m:oMathPara>
                </a14:m>
                <a:endParaRPr lang="en-US" b="0" dirty="0"/>
              </a:p>
              <a:p>
                <a:pPr marL="0" indent="0">
                  <a:buNone/>
                </a:pPr>
                <a:endParaRPr lang="en-US" b="0" dirty="0"/>
              </a:p>
              <a:p>
                <a:pPr marL="0" indent="0">
                  <a:buNone/>
                </a:pPr>
                <a:endParaRPr lang="en-US" b="0"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F09852CE-BB42-63E7-1A4A-891F79F8BF06}"/>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137426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70A49-9E36-7E1A-9381-06E90214C509}"/>
              </a:ext>
            </a:extLst>
          </p:cNvPr>
          <p:cNvSpPr>
            <a:spLocks noGrp="1"/>
          </p:cNvSpPr>
          <p:nvPr>
            <p:ph type="title"/>
          </p:nvPr>
        </p:nvSpPr>
        <p:spPr/>
        <p:txBody>
          <a:bodyPr/>
          <a:lstStyle/>
          <a:p>
            <a:r>
              <a:rPr lang="en-GB" dirty="0"/>
              <a:t> Paper Results</a:t>
            </a:r>
          </a:p>
        </p:txBody>
      </p:sp>
      <p:sp>
        <p:nvSpPr>
          <p:cNvPr id="3" name="Content Placeholder 2">
            <a:extLst>
              <a:ext uri="{FF2B5EF4-FFF2-40B4-BE49-F238E27FC236}">
                <a16:creationId xmlns:a16="http://schemas.microsoft.com/office/drawing/2014/main" id="{96545DF0-1D0B-FFE2-7087-190397A10ED0}"/>
              </a:ext>
            </a:extLst>
          </p:cNvPr>
          <p:cNvSpPr>
            <a:spLocks noGrp="1"/>
          </p:cNvSpPr>
          <p:nvPr>
            <p:ph sz="half" idx="1"/>
          </p:nvPr>
        </p:nvSpPr>
        <p:spPr/>
        <p:txBody>
          <a:bodyPr/>
          <a:lstStyle/>
          <a:p>
            <a:endParaRPr lang="en-GB" dirty="0"/>
          </a:p>
        </p:txBody>
      </p:sp>
      <p:sp>
        <p:nvSpPr>
          <p:cNvPr id="4" name="Content Placeholder 3">
            <a:extLst>
              <a:ext uri="{FF2B5EF4-FFF2-40B4-BE49-F238E27FC236}">
                <a16:creationId xmlns:a16="http://schemas.microsoft.com/office/drawing/2014/main" id="{D4912B28-7A2C-A0AD-FE30-A17B89525436}"/>
              </a:ext>
            </a:extLst>
          </p:cNvPr>
          <p:cNvSpPr>
            <a:spLocks noGrp="1"/>
          </p:cNvSpPr>
          <p:nvPr>
            <p:ph sz="half" idx="2"/>
          </p:nvPr>
        </p:nvSpPr>
        <p:spPr/>
        <p:txBody>
          <a:bodyPr/>
          <a:lstStyle/>
          <a:p>
            <a:endParaRPr lang="en-GB"/>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79844D93-AF0E-828D-3200-D318EF16C1FD}"/>
                  </a:ext>
                </a:extLst>
              </p:cNvPr>
              <p:cNvSpPr txBox="1">
                <a:spLocks/>
              </p:cNvSpPr>
              <p:nvPr/>
            </p:nvSpPr>
            <p:spPr>
              <a:xfrm>
                <a:off x="838200" y="1825625"/>
                <a:ext cx="5181600" cy="4351338"/>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14:m>
                  <m:oMathPara xmlns:m="http://schemas.openxmlformats.org/officeDocument/2006/math">
                    <m:oMath>
                      <m:r>
                        <m:rPr>
                          <m:nor/>
                        </m:rPr>
                        <a:rPr lang="en-US" i="0" smtClean="0">
                          <a:latin typeface="Cambria Math" panose="02040503050406030204" pitchFamily="18" charset="0"/>
                        </a:rPr>
                        <m:t>L2RE</m:t>
                      </m:r>
                      <m:r>
                        <a:rPr lang="en-US" i="1" smtClean="0">
                          <a:latin typeface="Cambria Math" panose="02040503050406030204" pitchFamily="18" charset="0"/>
                        </a:rPr>
                        <m:t>=0.0172±0.0040</m:t>
                      </m:r>
                    </m:oMath>
                  </m:oMathPara>
                </a14:m>
                <a:endParaRPr lang="en-US" dirty="0"/>
              </a:p>
              <a:p>
                <a:pPr marL="0" indent="0">
                  <a:buFont typeface="Arial" panose="020B0604020202020204" pitchFamily="34" charset="0"/>
                  <a:buNone/>
                </a:pPr>
                <a:endParaRPr lang="en-GB" dirty="0"/>
              </a:p>
            </p:txBody>
          </p:sp>
        </mc:Choice>
        <mc:Fallback xmlns="">
          <p:sp>
            <p:nvSpPr>
              <p:cNvPr id="5" name="Content Placeholder 2">
                <a:extLst>
                  <a:ext uri="{FF2B5EF4-FFF2-40B4-BE49-F238E27FC236}">
                    <a16:creationId xmlns:a16="http://schemas.microsoft.com/office/drawing/2014/main" id="{79844D93-AF0E-828D-3200-D318EF16C1FD}"/>
                  </a:ext>
                </a:extLst>
              </p:cNvPr>
              <p:cNvSpPr txBox="1">
                <a:spLocks noRot="1" noChangeAspect="1" noMove="1" noResize="1" noEditPoints="1" noAdjustHandles="1" noChangeArrowheads="1" noChangeShapeType="1" noTextEdit="1"/>
              </p:cNvSpPr>
              <p:nvPr/>
            </p:nvSpPr>
            <p:spPr>
              <a:xfrm>
                <a:off x="838200" y="1825625"/>
                <a:ext cx="5181600" cy="4351338"/>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Content Placeholder 3">
                <a:extLst>
                  <a:ext uri="{FF2B5EF4-FFF2-40B4-BE49-F238E27FC236}">
                    <a16:creationId xmlns:a16="http://schemas.microsoft.com/office/drawing/2014/main" id="{CE8B227F-10DE-3EC5-9FE8-3C2C3520F431}"/>
                  </a:ext>
                </a:extLst>
              </p:cNvPr>
              <p:cNvSpPr txBox="1">
                <a:spLocks/>
              </p:cNvSpPr>
              <p:nvPr/>
            </p:nvSpPr>
            <p:spPr>
              <a:xfrm>
                <a:off x="6172200" y="1825625"/>
                <a:ext cx="5181600" cy="4351338"/>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endParaRPr lang="en-US" dirty="0">
                  <a:latin typeface="Cambria Math" panose="02040503050406030204" pitchFamily="18" charset="0"/>
                </a:endParaRPr>
              </a:p>
              <a:p>
                <a:pPr marL="0" indent="0">
                  <a:buFont typeface="Arial" panose="020B0604020202020204" pitchFamily="34" charset="0"/>
                  <a:buNone/>
                </a:pPr>
                <a14:m>
                  <m:oMathPara xmlns:m="http://schemas.openxmlformats.org/officeDocument/2006/math">
                    <m:oMath>
                      <m:r>
                        <m:rPr>
                          <m:nor/>
                        </m:rPr>
                        <a:rPr lang="en-US" i="0" smtClean="0">
                          <a:latin typeface="Cambria Math" panose="02040503050406030204" pitchFamily="18" charset="0"/>
                        </a:rPr>
                        <m:t>L2RE</m:t>
                      </m:r>
                      <m:r>
                        <a:rPr lang="en-US" i="1" smtClean="0">
                          <a:latin typeface="Cambria Math" panose="02040503050406030204" pitchFamily="18" charset="0"/>
                        </a:rPr>
                        <m:t>=0.0077±0.0007</m:t>
                      </m:r>
                    </m:oMath>
                  </m:oMathPara>
                </a14:m>
                <a:endParaRPr lang="en-US" dirty="0"/>
              </a:p>
              <a:p>
                <a:pPr marL="0" indent="0">
                  <a:buFont typeface="Arial" panose="020B0604020202020204" pitchFamily="34" charset="0"/>
                  <a:buNone/>
                </a:pPr>
                <a:endParaRPr lang="en-GB" dirty="0"/>
              </a:p>
            </p:txBody>
          </p:sp>
        </mc:Choice>
        <mc:Fallback xmlns="">
          <p:sp>
            <p:nvSpPr>
              <p:cNvPr id="6" name="Content Placeholder 3">
                <a:extLst>
                  <a:ext uri="{FF2B5EF4-FFF2-40B4-BE49-F238E27FC236}">
                    <a16:creationId xmlns:a16="http://schemas.microsoft.com/office/drawing/2014/main" id="{CE8B227F-10DE-3EC5-9FE8-3C2C3520F431}"/>
                  </a:ext>
                </a:extLst>
              </p:cNvPr>
              <p:cNvSpPr txBox="1">
                <a:spLocks noRot="1" noChangeAspect="1" noMove="1" noResize="1" noEditPoints="1" noAdjustHandles="1" noChangeArrowheads="1" noChangeShapeType="1" noTextEdit="1"/>
              </p:cNvSpPr>
              <p:nvPr/>
            </p:nvSpPr>
            <p:spPr>
              <a:xfrm>
                <a:off x="6172200" y="1825625"/>
                <a:ext cx="5181600" cy="4351338"/>
              </a:xfrm>
              <a:prstGeom prst="rect">
                <a:avLst/>
              </a:prstGeom>
              <a:blipFill>
                <a:blip r:embed="rId4"/>
                <a:stretch>
                  <a:fillRect/>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C05BD518-51ED-62B3-0499-EB3C1986F6C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34995" y="1688194"/>
            <a:ext cx="5326294" cy="3150231"/>
          </a:xfrm>
          <a:prstGeom prst="rect">
            <a:avLst/>
          </a:prstGeom>
        </p:spPr>
      </p:pic>
      <p:pic>
        <p:nvPicPr>
          <p:cNvPr id="8" name="Picture 7">
            <a:extLst>
              <a:ext uri="{FF2B5EF4-FFF2-40B4-BE49-F238E27FC236}">
                <a16:creationId xmlns:a16="http://schemas.microsoft.com/office/drawing/2014/main" id="{6AD27F1C-9BC8-688C-DBF8-62FA7B10487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3005" y="1690688"/>
            <a:ext cx="5296795" cy="3147737"/>
          </a:xfrm>
          <a:prstGeom prst="rect">
            <a:avLst/>
          </a:prstGeom>
        </p:spPr>
      </p:pic>
    </p:spTree>
    <p:extLst>
      <p:ext uri="{BB962C8B-B14F-4D97-AF65-F5344CB8AC3E}">
        <p14:creationId xmlns:p14="http://schemas.microsoft.com/office/powerpoint/2010/main" val="3004697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36A12-602A-E971-1707-649987774E7A}"/>
              </a:ext>
            </a:extLst>
          </p:cNvPr>
          <p:cNvSpPr>
            <a:spLocks noGrp="1"/>
          </p:cNvSpPr>
          <p:nvPr>
            <p:ph type="title"/>
          </p:nvPr>
        </p:nvSpPr>
        <p:spPr/>
        <p:txBody>
          <a:bodyPr/>
          <a:lstStyle/>
          <a:p>
            <a:r>
              <a:rPr lang="en-GB" dirty="0"/>
              <a:t>First attempt</a:t>
            </a:r>
          </a:p>
        </p:txBody>
      </p:sp>
      <p:pic>
        <p:nvPicPr>
          <p:cNvPr id="5" name="Content Placeholder 4">
            <a:extLst>
              <a:ext uri="{FF2B5EF4-FFF2-40B4-BE49-F238E27FC236}">
                <a16:creationId xmlns:a16="http://schemas.microsoft.com/office/drawing/2014/main" id="{5C67D706-1232-834E-7FF8-D2005DDDE257}"/>
              </a:ext>
            </a:extLst>
          </p:cNvPr>
          <p:cNvPicPr>
            <a:picLocks noGrp="1" noChangeAspect="1"/>
          </p:cNvPicPr>
          <p:nvPr>
            <p:ph idx="1"/>
          </p:nvPr>
        </p:nvPicPr>
        <p:blipFill>
          <a:blip r:embed="rId3"/>
          <a:stretch>
            <a:fillRect/>
          </a:stretch>
        </p:blipFill>
        <p:spPr>
          <a:xfrm>
            <a:off x="2689311" y="1825625"/>
            <a:ext cx="6813377" cy="4351338"/>
          </a:xfrm>
          <a:prstGeom prst="rect">
            <a:avLst/>
          </a:prstGeom>
        </p:spPr>
      </p:pic>
    </p:spTree>
    <p:extLst>
      <p:ext uri="{BB962C8B-B14F-4D97-AF65-F5344CB8AC3E}">
        <p14:creationId xmlns:p14="http://schemas.microsoft.com/office/powerpoint/2010/main" val="18853954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2F3AF-A74F-D4EB-23BA-9199EC29093D}"/>
              </a:ext>
            </a:extLst>
          </p:cNvPr>
          <p:cNvSpPr>
            <a:spLocks noGrp="1"/>
          </p:cNvSpPr>
          <p:nvPr>
            <p:ph type="title"/>
          </p:nvPr>
        </p:nvSpPr>
        <p:spPr/>
        <p:txBody>
          <a:bodyPr>
            <a:normAutofit/>
          </a:bodyPr>
          <a:lstStyle/>
          <a:p>
            <a:r>
              <a:rPr lang="en-US" dirty="0"/>
              <a:t>Ansatz</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61E21B-30CA-B983-6E55-068C526966CD}"/>
                  </a:ext>
                </a:extLst>
              </p:cNvPr>
              <p:cNvSpPr>
                <a:spLocks noGrp="1"/>
              </p:cNvSpPr>
              <p:nvPr>
                <p:ph idx="1"/>
              </p:nvPr>
            </p:nvSpPr>
            <p:spPr/>
            <p:txBody>
              <a:bodyPr>
                <a:normAutofit lnSpcReduction="10000"/>
              </a:bodyPr>
              <a:lstStyle/>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𝑢</m:t>
                          </m:r>
                        </m:e>
                        <m:sub>
                          <m:r>
                            <a:rPr lang="en-US" i="1">
                              <a:latin typeface="Cambria Math" panose="02040503050406030204" pitchFamily="18" charset="0"/>
                            </a:rPr>
                            <m:t>𝜃</m:t>
                          </m:r>
                        </m:sub>
                      </m:sSub>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m:t>
                      </m:r>
                      <m:r>
                        <a:rPr lang="en-US" i="1">
                          <a:latin typeface="Cambria Math" panose="02040503050406030204" pitchFamily="18" charset="0"/>
                        </a:rPr>
                        <m:t>𝜅</m:t>
                      </m:r>
                      <m:sSub>
                        <m:sSubPr>
                          <m:ctrlPr>
                            <a:rPr lang="en-US" i="1">
                              <a:latin typeface="Cambria Math" panose="02040503050406030204" pitchFamily="18" charset="0"/>
                            </a:rPr>
                          </m:ctrlPr>
                        </m:sSubPr>
                        <m:e>
                          <m:r>
                            <a:rPr lang="en-US" i="1">
                              <a:latin typeface="Cambria Math" panose="02040503050406030204" pitchFamily="18" charset="0"/>
                            </a:rPr>
                            <m:t>𝑢</m:t>
                          </m:r>
                        </m:e>
                        <m:sub>
                          <m:r>
                            <a:rPr lang="en-US" i="1">
                              <a:latin typeface="Cambria Math" panose="02040503050406030204" pitchFamily="18" charset="0"/>
                            </a:rPr>
                            <m:t>𝑔</m:t>
                          </m:r>
                        </m:sub>
                      </m:sSub>
                      <m:d>
                        <m:dPr>
                          <m:ctrlPr>
                            <a:rPr lang="en-US" i="1">
                              <a:latin typeface="Cambria Math" panose="02040503050406030204" pitchFamily="18" charset="0"/>
                            </a:rPr>
                          </m:ctrlPr>
                        </m:dPr>
                        <m:e>
                          <m:r>
                            <a:rPr lang="en-US" i="1">
                              <a:latin typeface="Cambria Math" panose="02040503050406030204" pitchFamily="18" charset="0"/>
                            </a:rPr>
                            <m:t>𝑥</m:t>
                          </m:r>
                        </m:e>
                      </m:d>
                      <m:d>
                        <m:dPr>
                          <m:begChr m:val="["/>
                          <m:endChr m:val="]"/>
                          <m:ctrlPr>
                            <a:rPr lang="en-US" i="1">
                              <a:latin typeface="Cambria Math" panose="02040503050406030204" pitchFamily="18" charset="0"/>
                            </a:rPr>
                          </m:ctrlPr>
                        </m:dPr>
                        <m:e>
                          <m:r>
                            <a:rPr lang="en-US" i="1">
                              <a:latin typeface="Cambria Math" panose="02040503050406030204" pitchFamily="18" charset="0"/>
                            </a:rPr>
                            <m:t>1+</m:t>
                          </m:r>
                          <m:r>
                            <a:rPr lang="en-US" i="1">
                              <a:latin typeface="Cambria Math" panose="02040503050406030204" pitchFamily="18" charset="0"/>
                            </a:rPr>
                            <m:t>𝑐𝑊</m:t>
                          </m:r>
                          <m:d>
                            <m:dPr>
                              <m:ctrlPr>
                                <a:rPr lang="en-US" i="1">
                                  <a:latin typeface="Cambria Math" panose="02040503050406030204" pitchFamily="18" charset="0"/>
                                </a:rPr>
                              </m:ctrlPr>
                            </m:dPr>
                            <m:e>
                              <m:r>
                                <a:rPr lang="en-US" i="1">
                                  <a:latin typeface="Cambria Math" panose="02040503050406030204" pitchFamily="18" charset="0"/>
                                </a:rPr>
                                <m:t>𝑥</m:t>
                              </m:r>
                            </m:e>
                          </m:d>
                          <m:func>
                            <m:funcPr>
                              <m:ctrlPr>
                                <a:rPr lang="en-US" i="1">
                                  <a:latin typeface="Cambria Math" panose="02040503050406030204" pitchFamily="18" charset="0"/>
                                </a:rPr>
                              </m:ctrlPr>
                            </m:funcPr>
                            <m:fName>
                              <m:r>
                                <m:rPr>
                                  <m:sty m:val="p"/>
                                </m:rPr>
                                <a:rPr lang="en-US" i="1">
                                  <a:latin typeface="Cambria Math" panose="02040503050406030204" pitchFamily="18" charset="0"/>
                                </a:rPr>
                                <m:t>tanh</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ℎ</m:t>
                                      </m:r>
                                    </m:e>
                                    <m:sub>
                                      <m:r>
                                        <a:rPr lang="en-US" i="1">
                                          <a:latin typeface="Cambria Math" panose="02040503050406030204" pitchFamily="18" charset="0"/>
                                        </a:rPr>
                                        <m:t>𝜃</m:t>
                                      </m:r>
                                    </m:sub>
                                  </m:sSub>
                                  <m:d>
                                    <m:dPr>
                                      <m:ctrlPr>
                                        <a:rPr lang="en-US" i="1">
                                          <a:latin typeface="Cambria Math" panose="02040503050406030204" pitchFamily="18" charset="0"/>
                                        </a:rPr>
                                      </m:ctrlPr>
                                    </m:dPr>
                                    <m:e>
                                      <m:r>
                                        <a:rPr lang="en-US" i="1">
                                          <a:latin typeface="Cambria Math" panose="02040503050406030204" pitchFamily="18" charset="0"/>
                                        </a:rPr>
                                        <m:t>𝑥</m:t>
                                      </m:r>
                                    </m:e>
                                  </m:d>
                                </m:e>
                              </m:d>
                            </m:e>
                          </m:func>
                        </m:e>
                      </m:d>
                    </m:oMath>
                  </m:oMathPara>
                </a14:m>
                <a:endParaRPr lang="en-GB" dirty="0"/>
              </a:p>
              <a:p>
                <a:pPr marL="0" indent="0">
                  <a:buNone/>
                </a:pPr>
                <a:endParaRPr lang="en-GB"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2</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15</m:t>
                          </m:r>
                          <m:r>
                            <a:rPr lang="en-US" b="0" i="1" smtClean="0">
                              <a:latin typeface="Cambria Math" panose="02040503050406030204" pitchFamily="18" charset="0"/>
                            </a:rPr>
                            <m:t>𝑙</m:t>
                          </m:r>
                          <m:r>
                            <a:rPr lang="en-US" b="0" i="1" smtClean="0">
                              <a:latin typeface="Cambria Math" panose="02040503050406030204" pitchFamily="18" charset="0"/>
                            </a:rPr>
                            <m:t>+132</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𝑙</m:t>
                              </m:r>
                            </m:e>
                            <m:sup>
                              <m:r>
                                <a:rPr lang="en-US" b="0" i="1" smtClean="0">
                                  <a:latin typeface="Cambria Math" panose="02040503050406030204" pitchFamily="18" charset="0"/>
                                </a:rPr>
                                <m:t>2</m:t>
                              </m:r>
                            </m:sup>
                          </m:sSup>
                          <m:r>
                            <a:rPr lang="en-US" b="0" i="1" smtClean="0">
                              <a:latin typeface="Cambria Math" panose="02040503050406030204" pitchFamily="18" charset="0"/>
                            </a:rPr>
                            <m:t>+53</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𝑙</m:t>
                              </m:r>
                            </m:e>
                            <m:sup>
                              <m:r>
                                <a:rPr lang="en-US" b="0" i="1" smtClean="0">
                                  <a:latin typeface="Cambria Math" panose="02040503050406030204" pitchFamily="18" charset="0"/>
                                </a:rPr>
                                <m:t>3</m:t>
                              </m:r>
                            </m:sup>
                          </m:sSup>
                          <m:r>
                            <a:rPr lang="en-US" b="0" i="1" smtClean="0">
                              <a:latin typeface="Cambria Math" panose="02040503050406030204" pitchFamily="18" charset="0"/>
                            </a:rPr>
                            <m:t>+96</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𝑙</m:t>
                              </m:r>
                            </m:e>
                            <m:sup>
                              <m:r>
                                <a:rPr lang="en-US" b="0" i="1" smtClean="0">
                                  <a:latin typeface="Cambria Math" panose="02040503050406030204" pitchFamily="18" charset="0"/>
                                </a:rPr>
                                <m:t>4</m:t>
                              </m:r>
                            </m:sup>
                          </m:sSup>
                          <m:r>
                            <a:rPr lang="en-US" b="0" i="1" smtClean="0">
                              <a:latin typeface="Cambria Math" panose="02040503050406030204" pitchFamily="18" charset="0"/>
                            </a:rPr>
                            <m:t>+82</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𝑙</m:t>
                              </m:r>
                            </m:e>
                            <m:sup>
                              <m:r>
                                <a:rPr lang="en-US" b="0" i="1" smtClean="0">
                                  <a:latin typeface="Cambria Math" panose="02040503050406030204" pitchFamily="18" charset="0"/>
                                </a:rPr>
                                <m:t>5</m:t>
                              </m:r>
                            </m:sup>
                          </m:sSup>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84</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𝑙</m:t>
                                  </m:r>
                                </m:e>
                                <m:sup>
                                  <m:r>
                                    <a:rPr lang="en-US" b="0" i="1" smtClean="0">
                                      <a:latin typeface="Cambria Math" panose="02040503050406030204" pitchFamily="18" charset="0"/>
                                    </a:rPr>
                                    <m:t>5</m:t>
                                  </m:r>
                                </m:sup>
                              </m:sSup>
                            </m:num>
                            <m:den>
                              <m:r>
                                <a:rPr lang="en-US" b="0" i="1" smtClean="0">
                                  <a:latin typeface="Cambria Math" panose="02040503050406030204" pitchFamily="18" charset="0"/>
                                </a:rPr>
                                <m:t>ℛ</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85</m:t>
                              </m:r>
                              <m:func>
                                <m:funcPr>
                                  <m:ctrlPr>
                                    <a:rPr lang="en-US" b="0" i="1" smtClean="0">
                                      <a:latin typeface="Cambria Math" panose="02040503050406030204" pitchFamily="18" charset="0"/>
                                    </a:rPr>
                                  </m:ctrlPr>
                                </m:funcPr>
                                <m:fName>
                                  <m:r>
                                    <m:rPr>
                                      <m:sty m:val="p"/>
                                    </m:rPr>
                                    <a:rPr lang="en-US" b="0" i="1" smtClean="0">
                                      <a:latin typeface="Cambria Math" panose="02040503050406030204" pitchFamily="18" charset="0"/>
                                    </a:rPr>
                                    <m:t>ln</m:t>
                                  </m:r>
                                </m:fName>
                                <m:e>
                                  <m:r>
                                    <a:rPr lang="en-US" b="0" i="1" smtClean="0">
                                      <a:latin typeface="Cambria Math" panose="02040503050406030204" pitchFamily="18" charset="0"/>
                                    </a:rPr>
                                    <m:t>𝑙</m:t>
                                  </m:r>
                                </m:e>
                              </m:func>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ℛ</m:t>
                                  </m:r>
                                </m:e>
                                <m:sup>
                                  <m:r>
                                    <a:rPr lang="en-US" b="0" i="1" smtClean="0">
                                      <a:latin typeface="Cambria Math" panose="02040503050406030204" pitchFamily="18" charset="0"/>
                                    </a:rPr>
                                    <m:t>2</m:t>
                                  </m:r>
                                </m:sup>
                              </m:sSup>
                            </m:den>
                          </m:f>
                        </m:num>
                        <m:den>
                          <m:r>
                            <a:rPr lang="en-US" b="0" i="1" smtClean="0">
                              <a:latin typeface="Cambria Math" panose="02040503050406030204" pitchFamily="18" charset="0"/>
                            </a:rPr>
                            <m:t>80</m:t>
                          </m:r>
                          <m:r>
                            <a:rPr lang="en-US" b="0" i="1" smtClean="0">
                              <a:latin typeface="Cambria Math" panose="02040503050406030204" pitchFamily="18" charset="0"/>
                            </a:rPr>
                            <m:t>ℛ</m:t>
                          </m:r>
                        </m:den>
                      </m:f>
                    </m:oMath>
                  </m:oMathPara>
                </a14:m>
                <a:br>
                  <a:rPr lang="en-GB" dirty="0"/>
                </a:br>
                <a:endParaRPr lang="en-GB" dirty="0"/>
              </a:p>
              <a:p>
                <a:pPr marL="0" indent="0">
                  <a:buNone/>
                </a:pPr>
                <a:endParaRPr lang="en-GB" dirty="0"/>
              </a:p>
              <a:p>
                <a:pPr marL="0" indent="0">
                  <a:buNone/>
                </a:pPr>
                <a14:m>
                  <m:oMathPara xmlns:m="http://schemas.openxmlformats.org/officeDocument/2006/math">
                    <m:oMath>
                      <m:r>
                        <a:rPr lang="en-US" b="0" i="1" smtClean="0">
                          <a:latin typeface="Cambria Math" panose="02040503050406030204" pitchFamily="18" charset="0"/>
                        </a:rPr>
                        <m:t>ℛ</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𝑛</m:t>
                              </m:r>
                            </m:sub>
                          </m:sSub>
                        </m:num>
                        <m:den>
                          <m:r>
                            <a:rPr lang="en-US" b="0" i="1" smtClean="0">
                              <a:latin typeface="Cambria Math" panose="02040503050406030204" pitchFamily="18" charset="0"/>
                            </a:rPr>
                            <m:t>𝑚</m:t>
                          </m:r>
                        </m:den>
                      </m:f>
                      <m:r>
                        <a:rPr lang="en-US" b="0" i="1" smtClean="0">
                          <a:latin typeface="Cambria Math" panose="02040503050406030204" pitchFamily="18" charset="0"/>
                        </a:rPr>
                        <m:t>,</m:t>
                      </m:r>
                      <m:r>
                        <a:rPr lang="en-US" b="0" i="1" smtClean="0">
                          <a:latin typeface="Cambria Math" panose="02040503050406030204" pitchFamily="18" charset="0"/>
                        </a:rPr>
                        <m:t>𝑙</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m:t>
                          </m:r>
                          <m:r>
                            <a:rPr lang="en-US" b="0" i="1" smtClean="0">
                              <a:latin typeface="Cambria Math" panose="02040503050406030204" pitchFamily="18" charset="0"/>
                            </a:rPr>
                            <m:t>ℛ</m:t>
                          </m:r>
                        </m:den>
                      </m:f>
                    </m:oMath>
                  </m:oMathPara>
                </a14:m>
                <a:endParaRPr lang="en-GB" dirty="0"/>
              </a:p>
              <a:p>
                <a:pPr marL="0" indent="0">
                  <a:buNone/>
                </a:pPr>
                <a:endParaRPr lang="en-GB" dirty="0"/>
              </a:p>
              <a:p>
                <a:pPr marL="0" indent="0">
                  <a:buNone/>
                </a:pPr>
                <a:r>
                  <a:rPr lang="en-GB" dirty="0"/>
                  <a:t>Taylor expand to </a:t>
                </a:r>
                <a14:m>
                  <m:oMath xmlns:m="http://schemas.openxmlformats.org/officeDocument/2006/math">
                    <m:r>
                      <a:rPr lang="en-US" b="0" i="1" smtClean="0">
                        <a:latin typeface="Cambria Math" panose="02040503050406030204" pitchFamily="18" charset="0"/>
                      </a:rPr>
                      <m:t>𝒪</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−14</m:t>
                            </m:r>
                          </m:sup>
                        </m:sSup>
                      </m:e>
                    </m:d>
                  </m:oMath>
                </a14:m>
                <a:r>
                  <a:rPr lang="en-US" b="0" dirty="0"/>
                  <a:t> 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𝑛</m:t>
                        </m:r>
                      </m:sub>
                    </m:sSub>
                    <m:r>
                      <a:rPr lang="en-US" b="0" i="1" smtClean="0">
                        <a:latin typeface="Cambria Math" panose="02040503050406030204" pitchFamily="18" charset="0"/>
                      </a:rPr>
                      <m:t>&lt;0.1</m:t>
                    </m:r>
                  </m:oMath>
                </a14:m>
                <a:r>
                  <a:rPr lang="en-US" b="0" dirty="0"/>
                  <a:t> to sidestep zero-error</a:t>
                </a:r>
              </a:p>
              <a:p>
                <a:pPr marL="0" indent="0">
                  <a:buNone/>
                </a:pPr>
                <a:endParaRPr lang="en-GB" dirty="0"/>
              </a:p>
            </p:txBody>
          </p:sp>
        </mc:Choice>
        <mc:Fallback xmlns="">
          <p:sp>
            <p:nvSpPr>
              <p:cNvPr id="3" name="Content Placeholder 2">
                <a:extLst>
                  <a:ext uri="{FF2B5EF4-FFF2-40B4-BE49-F238E27FC236}">
                    <a16:creationId xmlns:a16="http://schemas.microsoft.com/office/drawing/2014/main" id="{3361E21B-30CA-B983-6E55-068C526966CD}"/>
                  </a:ext>
                </a:extLst>
              </p:cNvPr>
              <p:cNvSpPr>
                <a:spLocks noGrp="1" noRot="1" noChangeAspect="1" noMove="1" noResize="1" noEditPoints="1" noAdjustHandles="1" noChangeArrowheads="1" noChangeShapeType="1" noTextEdit="1"/>
              </p:cNvSpPr>
              <p:nvPr>
                <p:ph idx="1"/>
              </p:nvPr>
            </p:nvSpPr>
            <p:spPr>
              <a:blipFill>
                <a:blip r:embed="rId3"/>
                <a:stretch>
                  <a:fillRect l="-1217" b="-140"/>
                </a:stretch>
              </a:blipFill>
            </p:spPr>
            <p:txBody>
              <a:bodyPr/>
              <a:lstStyle/>
              <a:p>
                <a:r>
                  <a:rPr lang="en-GB">
                    <a:noFill/>
                  </a:rPr>
                  <a:t> </a:t>
                </a:r>
              </a:p>
            </p:txBody>
          </p:sp>
        </mc:Fallback>
      </mc:AlternateContent>
    </p:spTree>
    <p:extLst>
      <p:ext uri="{BB962C8B-B14F-4D97-AF65-F5344CB8AC3E}">
        <p14:creationId xmlns:p14="http://schemas.microsoft.com/office/powerpoint/2010/main" val="2166975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0E983-A2AD-ED4F-EF4F-8FB6E5673AAA}"/>
              </a:ext>
            </a:extLst>
          </p:cNvPr>
          <p:cNvSpPr>
            <a:spLocks noGrp="1"/>
          </p:cNvSpPr>
          <p:nvPr>
            <p:ph type="title"/>
          </p:nvPr>
        </p:nvSpPr>
        <p:spPr/>
        <p:txBody>
          <a:bodyPr/>
          <a:lstStyle/>
          <a:p>
            <a:r>
              <a:rPr lang="en-GB" dirty="0"/>
              <a:t>Second attempt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35E2-703B-7A5A-3AD6-EC0AAB797A1B}"/>
                  </a:ext>
                </a:extLst>
              </p:cNvPr>
              <p:cNvSpPr>
                <a:spLocks noGrp="1"/>
              </p:cNvSpPr>
              <p:nvPr>
                <p:ph sz="half" idx="1"/>
              </p:nvPr>
            </p:nvSpPr>
            <p:spPr/>
            <p:txBody>
              <a:bodyPr>
                <a:normAutofit fontScale="92500" lnSpcReduction="10000"/>
              </a:bodyPr>
              <a:lstStyle/>
              <a:p>
                <a:pPr marL="0" indent="0">
                  <a:buNone/>
                </a:pPr>
                <a:endParaRPr lang="en-US" b="0" i="1" dirty="0">
                  <a:latin typeface="Cambria Math" panose="02040503050406030204" pitchFamily="18" charset="0"/>
                </a:endParaRPr>
              </a:p>
              <a:p>
                <a:pPr marL="0" indent="0">
                  <a:buNone/>
                </a:pPr>
                <a:endParaRPr lang="en-US" i="1" dirty="0">
                  <a:latin typeface="Cambria Math" panose="02040503050406030204" pitchFamily="18" charset="0"/>
                </a:endParaRPr>
              </a:p>
              <a:p>
                <a:pPr marL="0" indent="0">
                  <a:buNone/>
                </a:pPr>
                <a:endParaRPr lang="en-US" b="0" i="1" dirty="0">
                  <a:latin typeface="Cambria Math" panose="02040503050406030204" pitchFamily="18" charset="0"/>
                </a:endParaRPr>
              </a:p>
              <a:p>
                <a:pPr marL="0" indent="0">
                  <a:buNone/>
                </a:pPr>
                <a:endParaRPr lang="en-US" i="1" dirty="0">
                  <a:latin typeface="Cambria Math" panose="02040503050406030204" pitchFamily="18" charset="0"/>
                </a:endParaRPr>
              </a:p>
              <a:p>
                <a:pPr marL="0" indent="0">
                  <a:buNone/>
                </a:pPr>
                <a:endParaRPr lang="en-US" b="0" i="1" dirty="0">
                  <a:latin typeface="Cambria Math" panose="02040503050406030204" pitchFamily="18" charset="0"/>
                </a:endParaRPr>
              </a:p>
              <a:p>
                <a:pPr marL="0" indent="0">
                  <a:buNone/>
                </a:pPr>
                <a:endParaRPr lang="en-US" i="1" dirty="0">
                  <a:latin typeface="Cambria Math" panose="02040503050406030204" pitchFamily="18" charset="0"/>
                </a:endParaRPr>
              </a:p>
              <a:p>
                <a:pPr marL="0" indent="0">
                  <a:buNone/>
                </a:pPr>
                <a:endParaRPr lang="en-US" b="0" i="1" dirty="0">
                  <a:latin typeface="Cambria Math" panose="02040503050406030204" pitchFamily="18" charset="0"/>
                </a:endParaRPr>
              </a:p>
              <a:p>
                <a:pPr marL="0" indent="0">
                  <a:buNone/>
                </a:pPr>
                <a:endParaRPr lang="en-US" b="0" i="1" dirty="0">
                  <a:latin typeface="Cambria Math" panose="02040503050406030204" pitchFamily="18" charset="0"/>
                </a:endParaRPr>
              </a:p>
              <a:p>
                <a:pPr marL="0" indent="0">
                  <a:buNone/>
                </a:pPr>
                <a:endParaRPr lang="en-US" b="0" i="1" dirty="0">
                  <a:latin typeface="Cambria Math" panose="02040503050406030204" pitchFamily="18" charset="0"/>
                </a:endParaRPr>
              </a:p>
              <a:p>
                <a:pPr marL="0" indent="0">
                  <a:buNone/>
                </a:pPr>
                <a14:m>
                  <m:oMathPara xmlns:m="http://schemas.openxmlformats.org/officeDocument/2006/math">
                    <m:oMath>
                      <m:r>
                        <a:rPr lang="en-US" b="0" i="1" smtClean="0">
                          <a:latin typeface="Cambria Math" panose="02040503050406030204" pitchFamily="18" charset="0"/>
                        </a:rPr>
                        <m:t>𝐿</m:t>
                      </m:r>
                      <m:r>
                        <a:rPr lang="en-US" b="0" i="1" smtClean="0">
                          <a:latin typeface="Cambria Math" panose="02040503050406030204" pitchFamily="18" charset="0"/>
                        </a:rPr>
                        <m:t>2</m:t>
                      </m:r>
                      <m:r>
                        <a:rPr lang="en-US" b="0" i="1" smtClean="0">
                          <a:latin typeface="Cambria Math" panose="02040503050406030204" pitchFamily="18" charset="0"/>
                        </a:rPr>
                        <m:t>𝑅𝐸</m:t>
                      </m:r>
                      <m:r>
                        <a:rPr lang="en-US" b="0" i="1" smtClean="0">
                          <a:latin typeface="Cambria Math" panose="02040503050406030204" pitchFamily="18" charset="0"/>
                        </a:rPr>
                        <m:t>=0.028</m:t>
                      </m:r>
                    </m:oMath>
                  </m:oMathPara>
                </a14:m>
                <a:endParaRPr lang="en-US" b="0"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62D035E2-703B-7A5A-3AD6-EC0AAB797A1B}"/>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2D7EA526-0397-931F-4037-D46B3DE9B987}"/>
                  </a:ext>
                </a:extLst>
              </p:cNvPr>
              <p:cNvSpPr>
                <a:spLocks noGrp="1"/>
              </p:cNvSpPr>
              <p:nvPr>
                <p:ph sz="half" idx="2"/>
              </p:nvPr>
            </p:nvSpPr>
            <p:spPr/>
            <p:txBody>
              <a:bodyPr>
                <a:normAutofit fontScale="92500" lnSpcReduction="10000"/>
              </a:bodyPr>
              <a:lstStyle/>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14:m>
                  <m:oMathPara xmlns:m="http://schemas.openxmlformats.org/officeDocument/2006/math">
                    <m:oMath>
                      <m:r>
                        <a:rPr lang="en-US" b="0" i="1" smtClean="0">
                          <a:latin typeface="Cambria Math" panose="02040503050406030204" pitchFamily="18" charset="0"/>
                        </a:rPr>
                        <m:t>𝐿</m:t>
                      </m:r>
                      <m:r>
                        <a:rPr lang="en-US" b="0" i="1" smtClean="0">
                          <a:latin typeface="Cambria Math" panose="02040503050406030204" pitchFamily="18" charset="0"/>
                        </a:rPr>
                        <m:t>2</m:t>
                      </m:r>
                      <m:r>
                        <a:rPr lang="en-US" b="0" i="1" smtClean="0">
                          <a:latin typeface="Cambria Math" panose="02040503050406030204" pitchFamily="18" charset="0"/>
                        </a:rPr>
                        <m:t>𝑅𝐸</m:t>
                      </m:r>
                      <m:r>
                        <a:rPr lang="en-US" b="0" i="1" smtClean="0">
                          <a:latin typeface="Cambria Math" panose="02040503050406030204" pitchFamily="18" charset="0"/>
                        </a:rPr>
                        <m:t>=0.048</m:t>
                      </m:r>
                    </m:oMath>
                  </m:oMathPara>
                </a14:m>
                <a:endParaRPr lang="en-US" b="0" dirty="0"/>
              </a:p>
              <a:p>
                <a:pPr marL="0" indent="0">
                  <a:buNone/>
                </a:pPr>
                <a:endParaRPr lang="en-GB" dirty="0"/>
              </a:p>
            </p:txBody>
          </p:sp>
        </mc:Choice>
        <mc:Fallback xmlns="">
          <p:sp>
            <p:nvSpPr>
              <p:cNvPr id="4" name="Content Placeholder 3">
                <a:extLst>
                  <a:ext uri="{FF2B5EF4-FFF2-40B4-BE49-F238E27FC236}">
                    <a16:creationId xmlns:a16="http://schemas.microsoft.com/office/drawing/2014/main" id="{2D7EA526-0397-931F-4037-D46B3DE9B987}"/>
                  </a:ext>
                </a:extLst>
              </p:cNvPr>
              <p:cNvSpPr>
                <a:spLocks noGrp="1" noRot="1" noChangeAspect="1" noMove="1" noResize="1" noEditPoints="1" noAdjustHandles="1" noChangeArrowheads="1" noChangeShapeType="1" noTextEdit="1"/>
              </p:cNvSpPr>
              <p:nvPr>
                <p:ph sz="half" idx="2"/>
              </p:nvPr>
            </p:nvSpPr>
            <p:spPr>
              <a:blipFill>
                <a:blip r:embed="rId4"/>
                <a:stretch>
                  <a:fillRect/>
                </a:stretch>
              </a:blipFill>
            </p:spPr>
            <p:txBody>
              <a:bodyPr/>
              <a:lstStyle/>
              <a:p>
                <a:r>
                  <a:rPr lang="en-GB">
                    <a:noFill/>
                  </a:rPr>
                  <a:t> </a:t>
                </a:r>
              </a:p>
            </p:txBody>
          </p:sp>
        </mc:Fallback>
      </mc:AlternateContent>
      <p:pic>
        <p:nvPicPr>
          <p:cNvPr id="8" name="Picture 7">
            <a:extLst>
              <a:ext uri="{FF2B5EF4-FFF2-40B4-BE49-F238E27FC236}">
                <a16:creationId xmlns:a16="http://schemas.microsoft.com/office/drawing/2014/main" id="{911265F9-5214-659F-A69F-D2D2B139E4C8}"/>
              </a:ext>
            </a:extLst>
          </p:cNvPr>
          <p:cNvPicPr>
            <a:picLocks noChangeAspect="1"/>
          </p:cNvPicPr>
          <p:nvPr/>
        </p:nvPicPr>
        <p:blipFill>
          <a:blip r:embed="rId5"/>
          <a:stretch>
            <a:fillRect/>
          </a:stretch>
        </p:blipFill>
        <p:spPr>
          <a:xfrm>
            <a:off x="450987" y="1690688"/>
            <a:ext cx="5568813" cy="3681079"/>
          </a:xfrm>
          <a:prstGeom prst="rect">
            <a:avLst/>
          </a:prstGeom>
        </p:spPr>
      </p:pic>
      <p:pic>
        <p:nvPicPr>
          <p:cNvPr id="10" name="Picture 9">
            <a:extLst>
              <a:ext uri="{FF2B5EF4-FFF2-40B4-BE49-F238E27FC236}">
                <a16:creationId xmlns:a16="http://schemas.microsoft.com/office/drawing/2014/main" id="{732F58F1-5A2E-3A0C-AA21-63BE67AAF111}"/>
              </a:ext>
            </a:extLst>
          </p:cNvPr>
          <p:cNvPicPr>
            <a:picLocks noChangeAspect="1"/>
          </p:cNvPicPr>
          <p:nvPr/>
        </p:nvPicPr>
        <p:blipFill>
          <a:blip r:embed="rId6"/>
          <a:stretch>
            <a:fillRect/>
          </a:stretch>
        </p:blipFill>
        <p:spPr>
          <a:xfrm>
            <a:off x="6172199" y="1690687"/>
            <a:ext cx="5568813" cy="3681079"/>
          </a:xfrm>
          <a:prstGeom prst="rect">
            <a:avLst/>
          </a:prstGeom>
        </p:spPr>
      </p:pic>
    </p:spTree>
    <p:extLst>
      <p:ext uri="{BB962C8B-B14F-4D97-AF65-F5344CB8AC3E}">
        <p14:creationId xmlns:p14="http://schemas.microsoft.com/office/powerpoint/2010/main" val="36887615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79FF6E-7A2D-8ABB-5C49-7CE76CC90297}"/>
              </a:ext>
            </a:extLst>
          </p:cNvPr>
          <p:cNvSpPr>
            <a:spLocks noGrp="1"/>
          </p:cNvSpPr>
          <p:nvPr>
            <p:ph type="title"/>
          </p:nvPr>
        </p:nvSpPr>
        <p:spPr/>
        <p:txBody>
          <a:bodyPr/>
          <a:lstStyle/>
          <a:p>
            <a:r>
              <a:rPr lang="en-GB" dirty="0"/>
              <a:t>In XY-plane</a:t>
            </a:r>
          </a:p>
        </p:txBody>
      </p:sp>
      <p:pic>
        <p:nvPicPr>
          <p:cNvPr id="8" name="Content Placeholder 7">
            <a:extLst>
              <a:ext uri="{FF2B5EF4-FFF2-40B4-BE49-F238E27FC236}">
                <a16:creationId xmlns:a16="http://schemas.microsoft.com/office/drawing/2014/main" id="{4227DE76-61D3-4CE4-F098-99F61556AC57}"/>
              </a:ext>
            </a:extLst>
          </p:cNvPr>
          <p:cNvPicPr>
            <a:picLocks noGrp="1" noChangeAspect="1"/>
          </p:cNvPicPr>
          <p:nvPr>
            <p:ph sz="half" idx="1"/>
          </p:nvPr>
        </p:nvPicPr>
        <p:blipFill>
          <a:blip r:embed="rId3"/>
          <a:stretch>
            <a:fillRect/>
          </a:stretch>
        </p:blipFill>
        <p:spPr>
          <a:xfrm>
            <a:off x="838200" y="1840768"/>
            <a:ext cx="5181600" cy="4321051"/>
          </a:xfrm>
          <a:prstGeom prst="rect">
            <a:avLst/>
          </a:prstGeom>
        </p:spPr>
      </p:pic>
      <p:pic>
        <p:nvPicPr>
          <p:cNvPr id="6" name="Content Placeholder 5">
            <a:extLst>
              <a:ext uri="{FF2B5EF4-FFF2-40B4-BE49-F238E27FC236}">
                <a16:creationId xmlns:a16="http://schemas.microsoft.com/office/drawing/2014/main" id="{487EBA6C-1087-087E-6A35-6A3AE5C60CC9}"/>
              </a:ext>
            </a:extLst>
          </p:cNvPr>
          <p:cNvPicPr>
            <a:picLocks noGrp="1" noChangeAspect="1"/>
          </p:cNvPicPr>
          <p:nvPr>
            <p:ph sz="half" idx="2"/>
          </p:nvPr>
        </p:nvPicPr>
        <p:blipFill>
          <a:blip r:embed="rId4"/>
          <a:stretch>
            <a:fillRect/>
          </a:stretch>
        </p:blipFill>
        <p:spPr>
          <a:xfrm>
            <a:off x="6326896" y="1825625"/>
            <a:ext cx="4872207" cy="4351338"/>
          </a:xfrm>
          <a:prstGeom prst="rect">
            <a:avLst/>
          </a:prstGeom>
        </p:spPr>
      </p:pic>
    </p:spTree>
    <p:extLst>
      <p:ext uri="{BB962C8B-B14F-4D97-AF65-F5344CB8AC3E}">
        <p14:creationId xmlns:p14="http://schemas.microsoft.com/office/powerpoint/2010/main" val="1699009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6B3E4-D666-31F2-CB1F-5F551F865082}"/>
              </a:ext>
            </a:extLst>
          </p:cNvPr>
          <p:cNvSpPr>
            <a:spLocks noGrp="1"/>
          </p:cNvSpPr>
          <p:nvPr>
            <p:ph type="title"/>
          </p:nvPr>
        </p:nvSpPr>
        <p:spPr/>
        <p:txBody>
          <a:bodyPr/>
          <a:lstStyle/>
          <a:p>
            <a:r>
              <a:rPr lang="en-GB" dirty="0" err="1"/>
              <a:t>DeepONet</a:t>
            </a:r>
            <a:r>
              <a:rPr lang="en-GB" dirty="0"/>
              <a:t> Recap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A5A75D6-4E6D-8565-131B-250ED499DAC7}"/>
                  </a:ext>
                </a:extLst>
              </p:cNvPr>
              <p:cNvSpPr>
                <a:spLocks noGrp="1"/>
              </p:cNvSpPr>
              <p:nvPr>
                <p:ph idx="1"/>
              </p:nvPr>
            </p:nvSpPr>
            <p:spPr/>
            <p:txBody>
              <a:bodyPr/>
              <a:lstStyle/>
              <a:p>
                <a:pPr marL="0" indent="0" algn="r">
                  <a:buNone/>
                </a:pPr>
                <a:endParaRPr lang="en-US" i="1" dirty="0">
                  <a:latin typeface="Cambria Math" panose="02040503050406030204" pitchFamily="18" charset="0"/>
                </a:endParaRPr>
              </a:p>
              <a:p>
                <a:pPr marL="0" indent="0" algn="r">
                  <a:buNone/>
                </a:pPr>
                <a:endParaRPr lang="en-US" i="1" dirty="0">
                  <a:latin typeface="Cambria Math" panose="02040503050406030204" pitchFamily="18" charset="0"/>
                </a:endParaRPr>
              </a:p>
              <a:p>
                <a:pPr marL="0" indent="0" algn="r">
                  <a:buNone/>
                </a:pPr>
                <a:endParaRPr lang="en-US" i="1" dirty="0">
                  <a:latin typeface="Cambria Math" panose="02040503050406030204" pitchFamily="18" charset="0"/>
                </a:endParaRPr>
              </a:p>
              <a:p>
                <a:pPr marL="0" indent="0" algn="r">
                  <a:buNone/>
                </a:pPr>
                <a14:m>
                  <m:oMathPara xmlns:m="http://schemas.openxmlformats.org/officeDocument/2006/math">
                    <m:oMathParaPr>
                      <m:jc m:val="right"/>
                    </m:oMathParaPr>
                    <m:oMath>
                      <m:r>
                        <a:rPr lang="en-US" i="1" dirty="0">
                          <a:latin typeface="Cambria Math" panose="02040503050406030204" pitchFamily="18" charset="0"/>
                        </a:rPr>
                        <m:t>𝐺</m:t>
                      </m:r>
                      <m:d>
                        <m:dPr>
                          <m:ctrlPr>
                            <a:rPr lang="en-US" i="1" dirty="0">
                              <a:latin typeface="Cambria Math" panose="02040503050406030204" pitchFamily="18" charset="0"/>
                            </a:rPr>
                          </m:ctrlPr>
                        </m:dPr>
                        <m:e>
                          <m:r>
                            <a:rPr lang="en-US" i="1" dirty="0">
                              <a:latin typeface="Cambria Math" panose="02040503050406030204" pitchFamily="18" charset="0"/>
                            </a:rPr>
                            <m:t>𝑢</m:t>
                          </m:r>
                        </m:e>
                      </m:d>
                      <m:d>
                        <m:dPr>
                          <m:ctrlPr>
                            <a:rPr lang="en-US" i="1" dirty="0">
                              <a:latin typeface="Cambria Math" panose="02040503050406030204" pitchFamily="18" charset="0"/>
                            </a:rPr>
                          </m:ctrlPr>
                        </m:dPr>
                        <m:e>
                          <m:r>
                            <a:rPr lang="en-US" i="1" dirty="0">
                              <a:latin typeface="Cambria Math" panose="02040503050406030204" pitchFamily="18" charset="0"/>
                            </a:rPr>
                            <m:t>𝑦</m:t>
                          </m:r>
                        </m:e>
                      </m:d>
                      <m:r>
                        <a:rPr lang="en-US" i="1" dirty="0">
                          <a:latin typeface="Cambria Math" panose="02040503050406030204" pitchFamily="18" charset="0"/>
                        </a:rPr>
                        <m:t>=</m:t>
                      </m:r>
                      <m:nary>
                        <m:naryPr>
                          <m:chr m:val="∑"/>
                          <m:limLoc m:val="undOvr"/>
                          <m:ctrlPr>
                            <a:rPr lang="en-US" i="1" dirty="0">
                              <a:latin typeface="Cambria Math" panose="02040503050406030204" pitchFamily="18" charset="0"/>
                            </a:rPr>
                          </m:ctrlPr>
                        </m:naryPr>
                        <m:sub>
                          <m:r>
                            <a:rPr lang="en-US" i="1" dirty="0">
                              <a:latin typeface="Cambria Math" panose="02040503050406030204" pitchFamily="18" charset="0"/>
                            </a:rPr>
                            <m:t>𝑘</m:t>
                          </m:r>
                          <m:r>
                            <a:rPr lang="en-US" i="1" dirty="0">
                              <a:latin typeface="Cambria Math" panose="02040503050406030204" pitchFamily="18" charset="0"/>
                            </a:rPr>
                            <m:t>=1</m:t>
                          </m:r>
                        </m:sub>
                        <m:sup>
                          <m:r>
                            <a:rPr lang="en-US" i="1" dirty="0">
                              <a:latin typeface="Cambria Math" panose="02040503050406030204" pitchFamily="18" charset="0"/>
                            </a:rPr>
                            <m:t>𝑝</m:t>
                          </m:r>
                        </m:sup>
                        <m:e>
                          <m:sSub>
                            <m:sSubPr>
                              <m:ctrlPr>
                                <a:rPr lang="en-US" i="1" dirty="0">
                                  <a:latin typeface="Cambria Math" panose="02040503050406030204" pitchFamily="18" charset="0"/>
                                </a:rPr>
                              </m:ctrlPr>
                            </m:sSubPr>
                            <m:e>
                              <m:r>
                                <a:rPr lang="en-US" i="1" dirty="0">
                                  <a:latin typeface="Cambria Math" panose="02040503050406030204" pitchFamily="18" charset="0"/>
                                </a:rPr>
                                <m:t>𝑏</m:t>
                              </m:r>
                            </m:e>
                            <m:sub>
                              <m:r>
                                <a:rPr lang="en-US" i="1" dirty="0">
                                  <a:latin typeface="Cambria Math" panose="02040503050406030204" pitchFamily="18" charset="0"/>
                                </a:rPr>
                                <m:t>𝑘</m:t>
                              </m:r>
                            </m:sub>
                          </m:sSub>
                        </m:e>
                      </m:nary>
                      <m:sSub>
                        <m:sSubPr>
                          <m:ctrlPr>
                            <a:rPr lang="en-US" i="1" dirty="0">
                              <a:latin typeface="Cambria Math" panose="02040503050406030204" pitchFamily="18" charset="0"/>
                            </a:rPr>
                          </m:ctrlPr>
                        </m:sSubPr>
                        <m:e>
                          <m:r>
                            <a:rPr lang="en-US" i="1" dirty="0">
                              <a:latin typeface="Cambria Math" panose="02040503050406030204" pitchFamily="18" charset="0"/>
                            </a:rPr>
                            <m:t>𝑡</m:t>
                          </m:r>
                        </m:e>
                        <m:sub>
                          <m:r>
                            <a:rPr lang="en-US" i="1" dirty="0">
                              <a:latin typeface="Cambria Math" panose="02040503050406030204" pitchFamily="18" charset="0"/>
                            </a:rPr>
                            <m:t>𝑘</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𝑏</m:t>
                          </m:r>
                        </m:e>
                        <m:sub>
                          <m:r>
                            <a:rPr lang="en-US" i="1" dirty="0">
                              <a:latin typeface="Cambria Math" panose="02040503050406030204" pitchFamily="18" charset="0"/>
                            </a:rPr>
                            <m:t>0</m:t>
                          </m:r>
                        </m:sub>
                      </m:sSub>
                    </m:oMath>
                  </m:oMathPara>
                </a14:m>
                <a:endParaRPr lang="en-US" dirty="0"/>
              </a:p>
              <a:p>
                <a:pPr marL="0" indent="0" algn="r">
                  <a:buNone/>
                </a:pPr>
                <a:endParaRPr lang="en-GB" dirty="0"/>
              </a:p>
            </p:txBody>
          </p:sp>
        </mc:Choice>
        <mc:Fallback xmlns="">
          <p:sp>
            <p:nvSpPr>
              <p:cNvPr id="3" name="Content Placeholder 2">
                <a:extLst>
                  <a:ext uri="{FF2B5EF4-FFF2-40B4-BE49-F238E27FC236}">
                    <a16:creationId xmlns:a16="http://schemas.microsoft.com/office/drawing/2014/main" id="{FA5A75D6-4E6D-8565-131B-250ED499DAC7}"/>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71D73596-949C-9985-2D92-96153C9E67A0}"/>
              </a:ext>
            </a:extLst>
          </p:cNvPr>
          <p:cNvPicPr>
            <a:picLocks noChangeAspect="1"/>
          </p:cNvPicPr>
          <p:nvPr/>
        </p:nvPicPr>
        <p:blipFill>
          <a:blip r:embed="rId4"/>
          <a:stretch>
            <a:fillRect/>
          </a:stretch>
        </p:blipFill>
        <p:spPr>
          <a:xfrm>
            <a:off x="838200" y="1690688"/>
            <a:ext cx="5772182" cy="4351338"/>
          </a:xfrm>
          <a:prstGeom prst="rect">
            <a:avLst/>
          </a:prstGeom>
        </p:spPr>
      </p:pic>
    </p:spTree>
    <p:extLst>
      <p:ext uri="{BB962C8B-B14F-4D97-AF65-F5344CB8AC3E}">
        <p14:creationId xmlns:p14="http://schemas.microsoft.com/office/powerpoint/2010/main" val="11411661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AD0FF-0698-0B5F-3B24-1C36120AAF63}"/>
              </a:ext>
            </a:extLst>
          </p:cNvPr>
          <p:cNvSpPr>
            <a:spLocks noGrp="1"/>
          </p:cNvSpPr>
          <p:nvPr>
            <p:ph type="title"/>
          </p:nvPr>
        </p:nvSpPr>
        <p:spPr/>
        <p:txBody>
          <a:bodyPr/>
          <a:lstStyle/>
          <a:p>
            <a:r>
              <a:rPr lang="en-GB" dirty="0"/>
              <a:t>Physics Informed </a:t>
            </a:r>
            <a:r>
              <a:rPr lang="en-GB" dirty="0" err="1"/>
              <a:t>DeepONet</a:t>
            </a:r>
            <a:r>
              <a:rPr lang="en-GB" dirty="0"/>
              <a:t> (</a:t>
            </a:r>
            <a:r>
              <a:rPr lang="en-GB" dirty="0" err="1"/>
              <a:t>PIDONet</a:t>
            </a:r>
            <a:r>
              <a:rPr lang="en-GB" dirty="0"/>
              <a:t>)</a:t>
            </a:r>
          </a:p>
        </p:txBody>
      </p:sp>
      <p:pic>
        <p:nvPicPr>
          <p:cNvPr id="5" name="Content Placeholder 4">
            <a:extLst>
              <a:ext uri="{FF2B5EF4-FFF2-40B4-BE49-F238E27FC236}">
                <a16:creationId xmlns:a16="http://schemas.microsoft.com/office/drawing/2014/main" id="{327B3F77-600D-E70A-F8AE-E7C68EF00FDC}"/>
              </a:ext>
            </a:extLst>
          </p:cNvPr>
          <p:cNvPicPr>
            <a:picLocks noGrp="1" noChangeAspect="1"/>
          </p:cNvPicPr>
          <p:nvPr>
            <p:ph idx="1"/>
          </p:nvPr>
        </p:nvPicPr>
        <p:blipFill>
          <a:blip r:embed="rId3"/>
          <a:stretch>
            <a:fillRect/>
          </a:stretch>
        </p:blipFill>
        <p:spPr>
          <a:xfrm>
            <a:off x="1377747" y="1690688"/>
            <a:ext cx="9639370" cy="4476782"/>
          </a:xfrm>
          <a:prstGeom prst="rect">
            <a:avLst/>
          </a:prstGeom>
        </p:spPr>
      </p:pic>
    </p:spTree>
    <p:extLst>
      <p:ext uri="{BB962C8B-B14F-4D97-AF65-F5344CB8AC3E}">
        <p14:creationId xmlns:p14="http://schemas.microsoft.com/office/powerpoint/2010/main" val="33638934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EC20CF-449A-D447-8A58-32D815C9CD1C}"/>
              </a:ext>
            </a:extLst>
          </p:cNvPr>
          <p:cNvSpPr>
            <a:spLocks noGrp="1"/>
          </p:cNvSpPr>
          <p:nvPr>
            <p:ph type="title"/>
          </p:nvPr>
        </p:nvSpPr>
        <p:spPr/>
        <p:txBody>
          <a:bodyPr/>
          <a:lstStyle/>
          <a:p>
            <a:r>
              <a:rPr lang="en-GB" dirty="0"/>
              <a:t>Project Plan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13110B0-EA5E-382C-F231-40DA1ADB0D85}"/>
                  </a:ext>
                </a:extLst>
              </p:cNvPr>
              <p:cNvSpPr>
                <a:spLocks noGrp="1"/>
              </p:cNvSpPr>
              <p:nvPr>
                <p:ph idx="1"/>
              </p:nvPr>
            </p:nvSpPr>
            <p:spPr/>
            <p:txBody>
              <a:bodyPr>
                <a:normAutofit fontScale="92500" lnSpcReduction="10000"/>
              </a:bodyPr>
              <a:lstStyle/>
              <a:p>
                <a:pPr marL="0" indent="0">
                  <a:buNone/>
                </a:pPr>
                <a:r>
                  <a:rPr lang="en-GB" dirty="0"/>
                  <a:t>Train </a:t>
                </a:r>
                <a:r>
                  <a:rPr lang="en-GB" dirty="0" err="1"/>
                  <a:t>PIDONet</a:t>
                </a:r>
                <a:r>
                  <a:rPr lang="en-GB" dirty="0"/>
                  <a:t> to generate BBH initial data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𝑚</m:t>
                        </m:r>
                      </m:e>
                      <m:sub>
                        <m:r>
                          <a:rPr lang="en-US" i="1">
                            <a:latin typeface="Cambria Math" panose="02040503050406030204" pitchFamily="18" charset="0"/>
                          </a:rPr>
                          <m:t>+</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r>
                          <a:rPr lang="en-US" i="1">
                            <a:latin typeface="Cambria Math" panose="02040503050406030204" pitchFamily="18" charset="0"/>
                          </a:rPr>
                          <m:t>0.1</m:t>
                        </m:r>
                        <m:r>
                          <a:rPr lang="en-US" b="0" i="1" smtClean="0">
                            <a:latin typeface="Cambria Math" panose="02040503050406030204" pitchFamily="18" charset="0"/>
                          </a:rPr>
                          <m:t>5</m:t>
                        </m:r>
                        <m:r>
                          <a:rPr lang="en-US" i="1">
                            <a:latin typeface="Cambria Math" panose="02040503050406030204" pitchFamily="18" charset="0"/>
                          </a:rPr>
                          <m:t>,0.2</m:t>
                        </m:r>
                        <m:r>
                          <a:rPr lang="en-US" b="0" i="1" smtClean="0">
                            <a:latin typeface="Cambria Math" panose="02040503050406030204" pitchFamily="18" charset="0"/>
                          </a:rPr>
                          <m:t>5</m:t>
                        </m:r>
                        <m:r>
                          <a:rPr lang="en-US" i="1">
                            <a:latin typeface="Cambria Math" panose="02040503050406030204" pitchFamily="18" charset="0"/>
                          </a:rPr>
                          <m:t>,0.3</m:t>
                        </m:r>
                        <m:r>
                          <a:rPr lang="en-US" b="0" i="1" smtClean="0">
                            <a:latin typeface="Cambria Math" panose="02040503050406030204" pitchFamily="18" charset="0"/>
                          </a:rPr>
                          <m:t>5</m:t>
                        </m:r>
                        <m:r>
                          <a:rPr lang="en-US" i="1">
                            <a:latin typeface="Cambria Math" panose="02040503050406030204" pitchFamily="18" charset="0"/>
                          </a:rPr>
                          <m:t>,0.4</m:t>
                        </m:r>
                        <m:r>
                          <a:rPr lang="en-US" b="0" i="1" smtClean="0">
                            <a:latin typeface="Cambria Math" panose="02040503050406030204" pitchFamily="18" charset="0"/>
                          </a:rPr>
                          <m:t>5</m:t>
                        </m:r>
                      </m:e>
                    </m:d>
                  </m:oMath>
                </a14:m>
                <a:endParaRPr lang="en-GB" dirty="0"/>
              </a:p>
              <a:p>
                <a:pPr lvl="1"/>
                <a:r>
                  <a:rPr lang="en-GB" dirty="0"/>
                  <a:t>~ 37 million datapoints from </a:t>
                </a:r>
                <a:r>
                  <a:rPr lang="en-GB" dirty="0" err="1"/>
                  <a:t>TwoPunctures</a:t>
                </a:r>
                <a:r>
                  <a:rPr lang="en-GB" dirty="0"/>
                  <a:t> 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m:t>
                        </m:r>
                      </m:sub>
                    </m:sSub>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0.1,0.2,0.3,0.4,0.5</m:t>
                        </m:r>
                      </m:e>
                    </m:d>
                  </m:oMath>
                </a14:m>
                <a:endParaRPr lang="en-GB" dirty="0"/>
              </a:p>
              <a:p>
                <a:pPr lvl="2"/>
                <a:r>
                  <a:rPr lang="en-GB" dirty="0"/>
                  <a:t>~30 million datapoints used for training</a:t>
                </a:r>
              </a:p>
              <a:p>
                <a:pPr lvl="2"/>
                <a:r>
                  <a:rPr lang="en-GB" dirty="0"/>
                  <a:t>~ 7 million datapoints used for validation</a:t>
                </a:r>
              </a:p>
              <a:p>
                <a:pPr lvl="1"/>
                <a:r>
                  <a:rPr lang="en-US" dirty="0"/>
                  <a:t>2 million interior datapoints to calculate PDE loss</a:t>
                </a:r>
              </a:p>
              <a:p>
                <a:pPr lvl="2"/>
                <a:r>
                  <a:rPr lang="en-US" b="0" dirty="0"/>
                  <a:t>1 million datapoints restricted to </a:t>
                </a:r>
                <a14:m>
                  <m:oMath xmlns:m="http://schemas.openxmlformats.org/officeDocument/2006/math">
                    <m:r>
                      <m:rPr>
                        <m:sty m:val="p"/>
                      </m:rPr>
                      <a:rPr lang="en-US" b="0" i="1" smtClean="0">
                        <a:latin typeface="Cambria Math" panose="02040503050406030204" pitchFamily="18" charset="0"/>
                      </a:rPr>
                      <m:t>R</m:t>
                    </m:r>
                    <m:r>
                      <a:rPr lang="en-US" b="0" i="1" smtClean="0">
                        <a:latin typeface="Cambria Math" panose="02040503050406030204" pitchFamily="18" charset="0"/>
                      </a:rPr>
                      <m:t>&lt;</m:t>
                    </m:r>
                    <m:r>
                      <a:rPr lang="en-US" b="0" i="1" smtClean="0">
                        <a:latin typeface="Cambria Math" panose="02040503050406030204" pitchFamily="18" charset="0"/>
                      </a:rPr>
                      <m:t>10</m:t>
                    </m:r>
                  </m:oMath>
                </a14:m>
                <a:endParaRPr lang="en-US" b="0" dirty="0"/>
              </a:p>
              <a:p>
                <a:pPr lvl="2"/>
                <a:r>
                  <a:rPr lang="en-US" b="0" dirty="0"/>
                  <a:t>1 million datapoints for </a:t>
                </a:r>
                <a14:m>
                  <m:oMath xmlns:m="http://schemas.openxmlformats.org/officeDocument/2006/math">
                    <m:r>
                      <a:rPr lang="en-US" b="0" i="1" smtClean="0">
                        <a:latin typeface="Cambria Math" panose="02040503050406030204" pitchFamily="18" charset="0"/>
                      </a:rPr>
                      <m:t>10&lt;</m:t>
                    </m:r>
                    <m:r>
                      <m:rPr>
                        <m:sty m:val="p"/>
                      </m:rPr>
                      <a:rPr lang="en-US" b="0" i="1" smtClean="0">
                        <a:latin typeface="Cambria Math" panose="02040503050406030204" pitchFamily="18" charset="0"/>
                      </a:rPr>
                      <m:t>R</m:t>
                    </m:r>
                    <m:r>
                      <a:rPr lang="en-US" b="0" i="1" smtClean="0">
                        <a:latin typeface="Cambria Math" panose="02040503050406030204" pitchFamily="18" charset="0"/>
                      </a:rPr>
                      <m:t>&lt;30</m:t>
                    </m:r>
                  </m:oMath>
                </a14:m>
                <a:endParaRPr lang="en-US" b="0" dirty="0"/>
              </a:p>
              <a:p>
                <a:pPr lvl="1"/>
                <a:r>
                  <a:rPr lang="en-GB" dirty="0"/>
                  <a:t>200000 boundary datapoints to enforce boundary conditions</a:t>
                </a:r>
              </a:p>
              <a:p>
                <a:pPr lvl="1"/>
                <a:r>
                  <a:rPr lang="en-US" dirty="0"/>
                  <a:t>Collocation points sampled from </a:t>
                </a:r>
                <a14:m>
                  <m:oMath xmlns:m="http://schemas.openxmlformats.org/officeDocument/2006/math">
                    <m:sSub>
                      <m:sSubPr>
                        <m:ctrlPr>
                          <a:rPr lang="en-US" b="0" i="0" smtClean="0">
                            <a:latin typeface="Cambria Math" panose="02040503050406030204" pitchFamily="18" charset="0"/>
                          </a:rPr>
                        </m:ctrlPr>
                      </m:sSubPr>
                      <m:e>
                        <m:r>
                          <a:rPr lang="en-US" b="0" i="0" smtClean="0">
                            <a:latin typeface="Cambria Math" panose="02040503050406030204" pitchFamily="18" charset="0"/>
                          </a:rPr>
                          <m:t>𝑚</m:t>
                        </m:r>
                      </m:e>
                      <m:sub>
                        <m:r>
                          <a:rPr lang="en-US" b="0" i="0" smtClean="0">
                            <a:latin typeface="Cambria Math" panose="02040503050406030204" pitchFamily="18" charset="0"/>
                          </a:rPr>
                          <m:t>+</m:t>
                        </m:r>
                      </m:sub>
                    </m:sSub>
                    <m:r>
                      <a:rPr lang="en-US" b="0" i="0" smtClean="0">
                        <a:latin typeface="Cambria Math" panose="02040503050406030204" pitchFamily="18" charset="0"/>
                      </a:rPr>
                      <m:t>∈</m:t>
                    </m:r>
                    <m:d>
                      <m:dPr>
                        <m:begChr m:val="["/>
                        <m:endChr m:val="]"/>
                        <m:ctrlPr>
                          <a:rPr lang="en-US" b="0" i="0" smtClean="0">
                            <a:latin typeface="Cambria Math" panose="02040503050406030204" pitchFamily="18" charset="0"/>
                          </a:rPr>
                        </m:ctrlPr>
                      </m:dPr>
                      <m:e>
                        <m:r>
                          <a:rPr lang="en-US" b="0" i="0" smtClean="0">
                            <a:latin typeface="Cambria Math" panose="02040503050406030204" pitchFamily="18" charset="0"/>
                          </a:rPr>
                          <m:t>0.1,0.5</m:t>
                        </m:r>
                      </m:e>
                    </m:d>
                  </m:oMath>
                </a14:m>
                <a:endParaRPr lang="en-US" b="0" dirty="0"/>
              </a:p>
              <a:p>
                <a:pPr marL="457200" lvl="1" indent="0">
                  <a:buNone/>
                </a:pPr>
                <a:endParaRPr lang="en-GB" dirty="0"/>
              </a:p>
              <a:p>
                <a:pPr marL="0" indent="0">
                  <a:buNone/>
                </a:pPr>
                <a:r>
                  <a:rPr lang="en-GB" dirty="0" err="1"/>
                  <a:t>PIDONet</a:t>
                </a:r>
                <a:r>
                  <a:rPr lang="en-GB" dirty="0"/>
                  <a:t> to predict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ℎ</m:t>
                        </m:r>
                      </m:e>
                      <m:sub>
                        <m:r>
                          <a:rPr lang="en-US" b="0" i="1" smtClean="0">
                            <a:latin typeface="Cambria Math" panose="02040503050406030204" pitchFamily="18" charset="0"/>
                          </a:rPr>
                          <m:t>𝜃</m:t>
                        </m:r>
                      </m:sub>
                    </m:sSub>
                  </m:oMath>
                </a14:m>
                <a:endParaRPr lang="en-US" b="0" dirty="0"/>
              </a:p>
              <a:p>
                <a:pPr marL="0" indent="0">
                  <a:buNone/>
                </a:pPr>
                <a:r>
                  <a:rPr lang="en-US" dirty="0"/>
                  <a:t>Ansatz to predict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𝜃</m:t>
                        </m:r>
                      </m:sub>
                    </m:sSub>
                  </m:oMath>
                </a14:m>
                <a:endParaRPr lang="en-US" b="0" dirty="0"/>
              </a:p>
              <a:p>
                <a:pPr marL="0" indent="0">
                  <a:buNone/>
                </a:pPr>
                <a:endParaRPr lang="en-US" b="0" dirty="0"/>
              </a:p>
              <a:p>
                <a:pPr marL="0" indent="0">
                  <a:buNone/>
                </a:pPr>
                <a:endParaRPr lang="en-GB" dirty="0"/>
              </a:p>
              <a:p>
                <a:pPr marL="0" indent="0">
                  <a:buNone/>
                </a:pPr>
                <a:endParaRPr lang="en-GB" dirty="0"/>
              </a:p>
            </p:txBody>
          </p:sp>
        </mc:Choice>
        <mc:Fallback>
          <p:sp>
            <p:nvSpPr>
              <p:cNvPr id="3" name="Content Placeholder 2">
                <a:extLst>
                  <a:ext uri="{FF2B5EF4-FFF2-40B4-BE49-F238E27FC236}">
                    <a16:creationId xmlns:a16="http://schemas.microsoft.com/office/drawing/2014/main" id="{C13110B0-EA5E-382C-F231-40DA1ADB0D85}"/>
                  </a:ext>
                </a:extLst>
              </p:cNvPr>
              <p:cNvSpPr>
                <a:spLocks noGrp="1" noRot="1" noChangeAspect="1" noMove="1" noResize="1" noEditPoints="1" noAdjustHandles="1" noChangeArrowheads="1" noChangeShapeType="1" noTextEdit="1"/>
              </p:cNvSpPr>
              <p:nvPr>
                <p:ph idx="1"/>
              </p:nvPr>
            </p:nvSpPr>
            <p:spPr>
              <a:blipFill>
                <a:blip r:embed="rId2"/>
                <a:stretch>
                  <a:fillRect l="-1043" t="-3081"/>
                </a:stretch>
              </a:blipFill>
            </p:spPr>
            <p:txBody>
              <a:bodyPr/>
              <a:lstStyle/>
              <a:p>
                <a:r>
                  <a:rPr lang="en-GB">
                    <a:noFill/>
                  </a:rPr>
                  <a:t> </a:t>
                </a:r>
              </a:p>
            </p:txBody>
          </p:sp>
        </mc:Fallback>
      </mc:AlternateContent>
    </p:spTree>
    <p:extLst>
      <p:ext uri="{BB962C8B-B14F-4D97-AF65-F5344CB8AC3E}">
        <p14:creationId xmlns:p14="http://schemas.microsoft.com/office/powerpoint/2010/main" val="2757883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2206E-6D4F-4F15-AE8E-A233352C94E9}"/>
              </a:ext>
            </a:extLst>
          </p:cNvPr>
          <p:cNvSpPr>
            <a:spLocks noGrp="1"/>
          </p:cNvSpPr>
          <p:nvPr>
            <p:ph type="title"/>
          </p:nvPr>
        </p:nvSpPr>
        <p:spPr/>
        <p:txBody>
          <a:bodyPr/>
          <a:lstStyle/>
          <a:p>
            <a:r>
              <a:rPr lang="en-GB" dirty="0"/>
              <a:t>Operator Training Architecture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F331DB8-7F11-457D-1153-470F93F918EB}"/>
                  </a:ext>
                </a:extLst>
              </p:cNvPr>
              <p:cNvSpPr>
                <a:spLocks noGrp="1"/>
              </p:cNvSpPr>
              <p:nvPr>
                <p:ph idx="1"/>
              </p:nvPr>
            </p:nvSpPr>
            <p:spPr>
              <a:xfrm>
                <a:off x="831376" y="1825625"/>
                <a:ext cx="10515600" cy="4351338"/>
              </a:xfrm>
            </p:spPr>
            <p:txBody>
              <a:bodyPr>
                <a:normAutofit fontScale="77500" lnSpcReduction="20000"/>
              </a:bodyPr>
              <a:lstStyle/>
              <a:p>
                <a:pPr marL="0" indent="0">
                  <a:buNone/>
                </a:pPr>
                <a:r>
                  <a:rPr lang="en-GB" dirty="0"/>
                  <a:t>Branch net input:</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𝑘</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𝑧</m:t>
                        </m:r>
                      </m:e>
                      <m:sub>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𝑧</m:t>
                        </m:r>
                      </m:e>
                      <m:sub>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𝑥</m:t>
                        </m:r>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𝑦</m:t>
                        </m:r>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m:rPr>
                            <m:sty m:val="p"/>
                          </m:rPr>
                          <a:rPr lang="en-US" b="0" i="1" smtClean="0">
                            <a:latin typeface="Cambria Math" panose="02040503050406030204" pitchFamily="18" charset="0"/>
                          </a:rPr>
                          <m:t>z</m:t>
                        </m:r>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𝑥</m:t>
                        </m:r>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𝑦</m:t>
                        </m:r>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𝑧</m:t>
                        </m:r>
                        <m:r>
                          <a:rPr lang="en-US" b="0" i="1" smtClean="0">
                            <a:latin typeface="Cambria Math" panose="02040503050406030204" pitchFamily="18" charset="0"/>
                          </a:rPr>
                          <m:t>−</m:t>
                        </m:r>
                      </m:sub>
                    </m:sSub>
                    <m:r>
                      <a:rPr lang="en-US" b="0" i="1" smtClean="0">
                        <a:latin typeface="Cambria Math" panose="02040503050406030204" pitchFamily="18" charset="0"/>
                      </a:rPr>
                      <m:t>]</m:t>
                    </m:r>
                  </m:oMath>
                </a14:m>
                <a:endParaRPr lang="en-US" b="0"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m:t>
                        </m:r>
                      </m:sub>
                    </m:sSub>
                    <m:r>
                      <a:rPr lang="en-US" b="0" i="1" smtClean="0">
                        <a:latin typeface="Cambria Math" panose="02040503050406030204" pitchFamily="18" charset="0"/>
                      </a:rPr>
                      <m:t>=1</m:t>
                    </m:r>
                  </m:oMath>
                </a14:m>
                <a:endParaRPr lang="en-US" b="0"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m:t>
                        </m:r>
                      </m:sub>
                    </m:sSub>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3,0,0</m:t>
                        </m:r>
                      </m:e>
                    </m:d>
                  </m:oMath>
                </a14:m>
                <a:r>
                  <a:rPr lang="en-US" b="0"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m:t>
                        </m:r>
                      </m:sub>
                    </m:sSub>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−3,0,0</m:t>
                        </m:r>
                      </m:e>
                    </m:d>
                  </m:oMath>
                </a14:m>
                <a:endParaRPr lang="en-US" b="0"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m:rPr>
                            <m:sty m:val="p"/>
                          </m:rPr>
                          <a:rPr lang="en-US" b="0" i="1" smtClean="0">
                            <a:latin typeface="Cambria Math" panose="02040503050406030204" pitchFamily="18" charset="0"/>
                          </a:rPr>
                          <m:t>y</m:t>
                        </m:r>
                        <m:r>
                          <a:rPr lang="en-US" b="0" i="1" smtClean="0">
                            <a:latin typeface="Cambria Math" panose="02040503050406030204" pitchFamily="18" charset="0"/>
                          </a:rPr>
                          <m:t>+</m:t>
                        </m:r>
                      </m:sub>
                    </m:sSub>
                    <m:r>
                      <a:rPr lang="en-US" b="0" i="1" smtClean="0">
                        <a:latin typeface="Cambria Math" panose="02040503050406030204" pitchFamily="18" charset="0"/>
                      </a:rPr>
                      <m:t>=0.8×</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m:t>
                        </m:r>
                      </m:sub>
                    </m:sSub>
                  </m:oMath>
                </a14:m>
                <a:r>
                  <a:rPr lang="en-US" b="0"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m:rPr>
                            <m:sty m:val="p"/>
                          </m:rPr>
                          <a:rPr lang="en-US" b="0" i="1" smtClean="0">
                            <a:latin typeface="Cambria Math" panose="02040503050406030204" pitchFamily="18" charset="0"/>
                          </a:rPr>
                          <m:t>y</m:t>
                        </m:r>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m:rPr>
                            <m:sty m:val="p"/>
                          </m:rPr>
                          <a:rPr lang="en-US" b="0" i="1" smtClean="0">
                            <a:latin typeface="Cambria Math" panose="02040503050406030204" pitchFamily="18" charset="0"/>
                          </a:rPr>
                          <m:t>y</m:t>
                        </m:r>
                        <m:r>
                          <a:rPr lang="en-US" b="0" i="1" smtClean="0">
                            <a:latin typeface="Cambria Math" panose="02040503050406030204" pitchFamily="18" charset="0"/>
                          </a:rPr>
                          <m:t>−</m:t>
                        </m:r>
                      </m:sub>
                    </m:sSub>
                  </m:oMath>
                </a14:m>
                <a:r>
                  <a:rPr lang="en-US" b="0"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𝑥</m:t>
                        </m:r>
                        <m:r>
                          <a:rPr lang="en-US" i="1">
                            <a:latin typeface="Cambria Math" panose="02040503050406030204" pitchFamily="18" charset="0"/>
                          </a:rPr>
                          <m:t>+</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𝑃</m:t>
                        </m:r>
                      </m:e>
                      <m:sub>
                        <m:r>
                          <m:rPr>
                            <m:sty m:val="p"/>
                          </m:rPr>
                          <a:rPr lang="en-US" i="1">
                            <a:latin typeface="Cambria Math" panose="02040503050406030204" pitchFamily="18" charset="0"/>
                          </a:rPr>
                          <m:t>z</m:t>
                        </m:r>
                        <m:r>
                          <a:rPr lang="en-US" i="1">
                            <a:latin typeface="Cambria Math" panose="02040503050406030204" pitchFamily="18" charset="0"/>
                          </a:rPr>
                          <m:t>+</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𝑥</m:t>
                        </m:r>
                        <m:r>
                          <a:rPr lang="en-US" i="1">
                            <a:latin typeface="Cambria Math" panose="02040503050406030204" pitchFamily="18" charset="0"/>
                          </a:rPr>
                          <m:t>−</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𝑧</m:t>
                        </m:r>
                        <m:r>
                          <a:rPr lang="en-US" i="1">
                            <a:latin typeface="Cambria Math" panose="02040503050406030204" pitchFamily="18" charset="0"/>
                          </a:rPr>
                          <m:t>−</m:t>
                        </m:r>
                      </m:sub>
                    </m:sSub>
                    <m:r>
                      <a:rPr lang="en-US" i="1">
                        <a:latin typeface="Cambria Math" panose="02040503050406030204" pitchFamily="18" charset="0"/>
                      </a:rPr>
                      <m:t>=0</m:t>
                    </m:r>
                  </m:oMath>
                </a14:m>
                <a:endParaRPr lang="en-US" dirty="0"/>
              </a:p>
              <a:p>
                <a:pPr marL="457200" lvl="1" indent="0">
                  <a:buNone/>
                </a:pPr>
                <a:endParaRPr lang="en-US" dirty="0"/>
              </a:p>
              <a:p>
                <a:pPr marL="0" indent="0">
                  <a:buNone/>
                </a:pPr>
                <a:r>
                  <a:rPr lang="en-US" b="0" dirty="0"/>
                  <a:t>Trunk net input:</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𝑘</m:t>
                        </m:r>
                      </m:sub>
                    </m:sSub>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r>
                          <a:rPr lang="en-US" b="0" i="1" smtClean="0">
                            <a:latin typeface="Cambria Math" panose="02040503050406030204" pitchFamily="18" charset="0"/>
                          </a:rPr>
                          <m:t>𝑧</m:t>
                        </m:r>
                      </m:e>
                    </m:d>
                  </m:oMath>
                </a14:m>
                <a:endParaRPr lang="en-US" b="0" dirty="0"/>
              </a:p>
              <a:p>
                <a:pPr marL="457200" lvl="1" indent="0">
                  <a:buNone/>
                </a:pPr>
                <a:endParaRPr lang="en-US" dirty="0"/>
              </a:p>
              <a:p>
                <a:pPr marL="0" indent="0">
                  <a:buNone/>
                </a:pPr>
                <a:r>
                  <a:rPr lang="en-US" dirty="0"/>
                  <a:t>Architecture:</a:t>
                </a:r>
              </a:p>
              <a:p>
                <a:pPr lvl="1"/>
                <a:r>
                  <a:rPr lang="en-US" dirty="0"/>
                  <a:t>3 hidden layers</a:t>
                </a:r>
              </a:p>
              <a:p>
                <a:pPr lvl="1"/>
                <a:r>
                  <a:rPr lang="en-US" dirty="0"/>
                  <a:t>64 neurons each</a:t>
                </a:r>
              </a:p>
              <a:p>
                <a:pPr lvl="1"/>
                <a:r>
                  <a:rPr lang="en-US" dirty="0" err="1"/>
                  <a:t>SiLU</a:t>
                </a:r>
                <a:r>
                  <a:rPr lang="en-US" dirty="0"/>
                  <a:t> activation function</a:t>
                </a:r>
              </a:p>
              <a:p>
                <a:pPr lvl="1"/>
                <a:r>
                  <a:rPr lang="en-US" dirty="0"/>
                  <a:t>50 outputs</a:t>
                </a:r>
              </a:p>
              <a:p>
                <a:pPr marL="0" indent="0">
                  <a:buNone/>
                </a:pPr>
                <a:endParaRPr lang="en-US" b="0" dirty="0"/>
              </a:p>
              <a:p>
                <a:pPr marL="0" indent="0">
                  <a:buNone/>
                </a:pPr>
                <a:endParaRPr lang="en-US" b="0" dirty="0"/>
              </a:p>
              <a:p>
                <a:pPr lvl="1"/>
                <a:endParaRPr lang="en-US" b="0" dirty="0"/>
              </a:p>
              <a:p>
                <a:pPr lvl="1"/>
                <a:endParaRPr lang="en-US" b="0" dirty="0"/>
              </a:p>
              <a:p>
                <a:pPr lvl="1"/>
                <a:endParaRPr lang="en-GB" dirty="0"/>
              </a:p>
            </p:txBody>
          </p:sp>
        </mc:Choice>
        <mc:Fallback xmlns="">
          <p:sp>
            <p:nvSpPr>
              <p:cNvPr id="3" name="Content Placeholder 2">
                <a:extLst>
                  <a:ext uri="{FF2B5EF4-FFF2-40B4-BE49-F238E27FC236}">
                    <a16:creationId xmlns:a16="http://schemas.microsoft.com/office/drawing/2014/main" id="{EF331DB8-7F11-457D-1153-470F93F918EB}"/>
                  </a:ext>
                </a:extLst>
              </p:cNvPr>
              <p:cNvSpPr>
                <a:spLocks noGrp="1" noRot="1" noChangeAspect="1" noMove="1" noResize="1" noEditPoints="1" noAdjustHandles="1" noChangeArrowheads="1" noChangeShapeType="1" noTextEdit="1"/>
              </p:cNvSpPr>
              <p:nvPr>
                <p:ph idx="1"/>
              </p:nvPr>
            </p:nvSpPr>
            <p:spPr>
              <a:xfrm>
                <a:off x="831376" y="1825625"/>
                <a:ext cx="10515600" cy="4351338"/>
              </a:xfrm>
              <a:blipFill>
                <a:blip r:embed="rId2"/>
                <a:stretch>
                  <a:fillRect l="-754" t="-2941"/>
                </a:stretch>
              </a:blipFill>
            </p:spPr>
            <p:txBody>
              <a:bodyPr/>
              <a:lstStyle/>
              <a:p>
                <a:r>
                  <a:rPr lang="en-GB">
                    <a:noFill/>
                  </a:rPr>
                  <a:t> </a:t>
                </a:r>
              </a:p>
            </p:txBody>
          </p:sp>
        </mc:Fallback>
      </mc:AlternateContent>
    </p:spTree>
    <p:extLst>
      <p:ext uri="{BB962C8B-B14F-4D97-AF65-F5344CB8AC3E}">
        <p14:creationId xmlns:p14="http://schemas.microsoft.com/office/powerpoint/2010/main" val="3262484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3DAD6-0BAE-3134-9E4A-E80F256184BF}"/>
              </a:ext>
            </a:extLst>
          </p:cNvPr>
          <p:cNvSpPr>
            <a:spLocks noGrp="1"/>
          </p:cNvSpPr>
          <p:nvPr>
            <p:ph type="title"/>
          </p:nvPr>
        </p:nvSpPr>
        <p:spPr/>
        <p:txBody>
          <a:bodyPr/>
          <a:lstStyle/>
          <a:p>
            <a:r>
              <a:rPr lang="en-GB" dirty="0"/>
              <a:t>Loss function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4BC0F79-2915-7D91-89A3-643D2FC7B643}"/>
                  </a:ext>
                </a:extLst>
              </p:cNvPr>
              <p:cNvSpPr>
                <a:spLocks noGrp="1"/>
              </p:cNvSpPr>
              <p:nvPr>
                <p:ph idx="1"/>
              </p:nvPr>
            </p:nvSpPr>
            <p:spPr/>
            <p:txBody>
              <a:bodyPr>
                <a:normAutofit fontScale="77500" lnSpcReduction="20000"/>
              </a:bodyPr>
              <a:lstStyle/>
              <a:p>
                <a:pPr marL="514350" indent="-514350">
                  <a:buFont typeface="+mj-lt"/>
                  <a:buAutoNum type="arabicPeriod"/>
                </a:pPr>
                <a:r>
                  <a:rPr lang="en-GB" dirty="0"/>
                  <a:t>L2 error on datapoints</a:t>
                </a:r>
              </a:p>
              <a:p>
                <a:pPr marL="514350" indent="-514350">
                  <a:buFont typeface="+mj-lt"/>
                  <a:buAutoNum type="arabicPeriod"/>
                </a:pPr>
                <a:r>
                  <a:rPr lang="en-GB" dirty="0"/>
                  <a:t>L2 error on interior points</a:t>
                </a:r>
              </a:p>
              <a:p>
                <a:pPr marL="514350" indent="-514350">
                  <a:buFont typeface="+mj-lt"/>
                  <a:buAutoNum type="arabicPeriod"/>
                </a:pPr>
                <a:r>
                  <a:rPr lang="en-GB" dirty="0"/>
                  <a:t>soft-</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m:t>
                        </m:r>
                      </m:sub>
                    </m:sSub>
                  </m:oMath>
                </a14:m>
                <a:r>
                  <a:rPr lang="en-US" b="0" dirty="0"/>
                  <a:t> error on interior points</a:t>
                </a:r>
              </a:p>
              <a:p>
                <a:pPr marL="514350" indent="-514350">
                  <a:buFont typeface="+mj-lt"/>
                  <a:buAutoNum type="arabicPeriod"/>
                </a:pPr>
                <a:r>
                  <a:rPr lang="en-US" dirty="0"/>
                  <a:t>L2 error on boundary points</a:t>
                </a:r>
              </a:p>
              <a:p>
                <a:pPr marL="457200" lvl="1" indent="0">
                  <a:buNone/>
                </a:pPr>
                <a:endParaRPr lang="en-US" dirty="0"/>
              </a:p>
              <a:p>
                <a:pPr marL="0" indent="0">
                  <a:buNone/>
                </a:pPr>
                <a14:m>
                  <m:oMathPara xmlns:m="http://schemas.openxmlformats.org/officeDocument/2006/math">
                    <m:oMath>
                      <m:r>
                        <a:rPr lang="en-US" b="0" i="1" smtClean="0">
                          <a:latin typeface="Cambria Math" panose="02040503050406030204" pitchFamily="18" charset="0"/>
                        </a:rPr>
                        <m:t>ℒ</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𝑑𝑎𝑡𝑎</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𝑖𝑛𝑡</m:t>
                          </m:r>
                        </m:sub>
                      </m:sSub>
                      <m:r>
                        <a:rPr lang="en-US" b="0" i="1" smtClean="0">
                          <a:latin typeface="Cambria Math" panose="02040503050406030204" pitchFamily="18" charset="0"/>
                        </a:rPr>
                        <m:t>+0.5×</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𝑅𝐵</m:t>
                          </m:r>
                        </m:sub>
                      </m:sSub>
                    </m:oMath>
                  </m:oMathPara>
                </a14:m>
                <a:endParaRPr lang="en-US" b="0" dirty="0"/>
              </a:p>
              <a:p>
                <a:pPr marL="0" indent="0">
                  <a:buNone/>
                </a:pPr>
                <a:endParaRPr lang="en-GB" b="0" dirty="0"/>
              </a:p>
              <a:p>
                <a:pPr marL="0" indent="0">
                  <a:buNone/>
                </a:pPr>
                <a:r>
                  <a:rPr lang="en-GB" dirty="0"/>
                  <a:t>Losses rescaled using EMA method</a:t>
                </a:r>
              </a:p>
              <a:p>
                <a:pPr marL="0" indent="0">
                  <a:buNone/>
                </a:pPr>
                <a:endParaRPr lang="en-GB" b="0" dirty="0"/>
              </a:p>
              <a:p>
                <a:pPr marL="0" indent="0">
                  <a:buNone/>
                </a:pPr>
                <a:r>
                  <a:rPr lang="en-GB" dirty="0"/>
                  <a:t>Adam optimizer </a:t>
                </a:r>
                <a14:m>
                  <m:oMath xmlns:m="http://schemas.openxmlformats.org/officeDocument/2006/math">
                    <m:d>
                      <m:dPr>
                        <m:ctrlPr>
                          <a:rPr lang="en-US" b="0" i="1" smtClean="0">
                            <a:latin typeface="Cambria Math" panose="02040503050406030204" pitchFamily="18" charset="0"/>
                          </a:rPr>
                        </m:ctrlPr>
                      </m:dPr>
                      <m:e>
                        <m:r>
                          <a:rPr lang="en-US" b="0" i="1" smtClean="0">
                            <a:latin typeface="Cambria Math" panose="02040503050406030204" pitchFamily="18" charset="0"/>
                          </a:rPr>
                          <m:t>𝑙𝑟</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−4</m:t>
                            </m:r>
                          </m:sup>
                        </m:sSup>
                      </m:e>
                    </m:d>
                  </m:oMath>
                </a14:m>
                <a:endParaRPr lang="en-US" b="0" dirty="0"/>
              </a:p>
              <a:p>
                <a:pPr marL="0" indent="0">
                  <a:buNone/>
                </a:pPr>
                <a:endParaRPr lang="en-US" dirty="0"/>
              </a:p>
              <a:p>
                <a:pPr marL="0" indent="0">
                  <a:buNone/>
                </a:pPr>
                <a:r>
                  <a:rPr lang="en-US" b="0" dirty="0"/>
                  <a:t>L2RE on datapoints for validation</a:t>
                </a:r>
              </a:p>
              <a:p>
                <a:pPr marL="0" indent="0">
                  <a:buNone/>
                </a:pPr>
                <a:endParaRPr lang="en-US" b="0" dirty="0"/>
              </a:p>
            </p:txBody>
          </p:sp>
        </mc:Choice>
        <mc:Fallback xmlns="">
          <p:sp>
            <p:nvSpPr>
              <p:cNvPr id="3" name="Content Placeholder 2">
                <a:extLst>
                  <a:ext uri="{FF2B5EF4-FFF2-40B4-BE49-F238E27FC236}">
                    <a16:creationId xmlns:a16="http://schemas.microsoft.com/office/drawing/2014/main" id="{B4BC0F79-2915-7D91-89A3-643D2FC7B643}"/>
                  </a:ext>
                </a:extLst>
              </p:cNvPr>
              <p:cNvSpPr>
                <a:spLocks noGrp="1" noRot="1" noChangeAspect="1" noMove="1" noResize="1" noEditPoints="1" noAdjustHandles="1" noChangeArrowheads="1" noChangeShapeType="1" noTextEdit="1"/>
              </p:cNvSpPr>
              <p:nvPr>
                <p:ph idx="1"/>
              </p:nvPr>
            </p:nvSpPr>
            <p:spPr>
              <a:blipFill>
                <a:blip r:embed="rId2"/>
                <a:stretch>
                  <a:fillRect l="-754" t="-2941"/>
                </a:stretch>
              </a:blipFill>
            </p:spPr>
            <p:txBody>
              <a:bodyPr/>
              <a:lstStyle/>
              <a:p>
                <a:r>
                  <a:rPr lang="en-GB">
                    <a:noFill/>
                  </a:rPr>
                  <a:t> </a:t>
                </a:r>
              </a:p>
            </p:txBody>
          </p:sp>
        </mc:Fallback>
      </mc:AlternateContent>
    </p:spTree>
    <p:extLst>
      <p:ext uri="{BB962C8B-B14F-4D97-AF65-F5344CB8AC3E}">
        <p14:creationId xmlns:p14="http://schemas.microsoft.com/office/powerpoint/2010/main" val="27854660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4350D-A776-FF18-2066-4C64A7B3F6BA}"/>
              </a:ext>
            </a:extLst>
          </p:cNvPr>
          <p:cNvSpPr>
            <a:spLocks noGrp="1"/>
          </p:cNvSpPr>
          <p:nvPr>
            <p:ph type="title"/>
          </p:nvPr>
        </p:nvSpPr>
        <p:spPr/>
        <p:txBody>
          <a:bodyPr/>
          <a:lstStyle/>
          <a:p>
            <a:r>
              <a:rPr lang="en-GB" dirty="0"/>
              <a:t>Results </a:t>
            </a:r>
          </a:p>
        </p:txBody>
      </p:sp>
      <p:sp>
        <p:nvSpPr>
          <p:cNvPr id="3" name="Content Placeholder 2">
            <a:extLst>
              <a:ext uri="{FF2B5EF4-FFF2-40B4-BE49-F238E27FC236}">
                <a16:creationId xmlns:a16="http://schemas.microsoft.com/office/drawing/2014/main" id="{DD2BE3D2-8159-13B3-02BE-70480027C540}"/>
              </a:ext>
            </a:extLst>
          </p:cNvPr>
          <p:cNvSpPr>
            <a:spLocks noGrp="1"/>
          </p:cNvSpPr>
          <p:nvPr>
            <p:ph idx="1"/>
          </p:nvPr>
        </p:nvSpPr>
        <p:spPr>
          <a:xfrm>
            <a:off x="920087" y="1825625"/>
            <a:ext cx="10515600" cy="4351338"/>
          </a:xfrm>
        </p:spPr>
        <p:txBody>
          <a:bodyPr/>
          <a:lstStyle/>
          <a:p>
            <a:pPr marL="0" indent="0">
              <a:buNone/>
            </a:pPr>
            <a:r>
              <a:rPr lang="en-GB" dirty="0"/>
              <a:t>Trained for 2734 epochs (8 hours 20 minutes on A100 GPU)</a:t>
            </a:r>
          </a:p>
          <a:p>
            <a:pPr marL="0" indent="0">
              <a:buNone/>
            </a:pPr>
            <a:endParaRPr lang="en-GB" dirty="0"/>
          </a:p>
          <a:p>
            <a:pPr marL="0" indent="0">
              <a:buNone/>
            </a:pPr>
            <a:endParaRPr lang="en-GB" dirty="0"/>
          </a:p>
          <a:p>
            <a:pPr marL="0" indent="0">
              <a:buNone/>
            </a:pPr>
            <a:endParaRPr lang="en-GB" dirty="0"/>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4355F23D-5E46-D528-BA9D-E9FF9DCAF29D}"/>
                  </a:ext>
                </a:extLst>
              </p:cNvPr>
              <p:cNvGraphicFramePr>
                <a:graphicFrameLocks noGrp="1"/>
              </p:cNvGraphicFramePr>
              <p:nvPr>
                <p:extLst>
                  <p:ext uri="{D42A27DB-BD31-4B8C-83A1-F6EECF244321}">
                    <p14:modId xmlns:p14="http://schemas.microsoft.com/office/powerpoint/2010/main" val="756294735"/>
                  </p:ext>
                </p:extLst>
              </p:nvPr>
            </p:nvGraphicFramePr>
            <p:xfrm>
              <a:off x="2113887" y="2549843"/>
              <a:ext cx="8128000" cy="36271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3625390857"/>
                        </a:ext>
                      </a:extLst>
                    </a:gridCol>
                    <a:gridCol w="4064000">
                      <a:extLst>
                        <a:ext uri="{9D8B030D-6E8A-4147-A177-3AD203B41FA5}">
                          <a16:colId xmlns:a16="http://schemas.microsoft.com/office/drawing/2014/main" val="1200038916"/>
                        </a:ext>
                      </a:extLst>
                    </a:gridCol>
                  </a:tblGrid>
                  <a:tr h="370840">
                    <a:tc>
                      <a:txBody>
                        <a:bodyPr/>
                        <a:lstStyle/>
                        <a:p>
                          <a:pPr algn="ctr"/>
                          <a:endParaRPr lang="en-GB" sz="2800" dirty="0">
                            <a:latin typeface="Times New Roman" panose="02020603050405020304" pitchFamily="18" charset="0"/>
                            <a:cs typeface="Times New Roman" panose="02020603050405020304" pitchFamily="18" charset="0"/>
                          </a:endParaRPr>
                        </a:p>
                      </a:txBody>
                      <a:tcPr/>
                    </a:tc>
                    <a:tc>
                      <a:txBody>
                        <a:bodyPr/>
                        <a:lstStyle/>
                        <a:p>
                          <a:pPr algn="ctr"/>
                          <a:r>
                            <a:rPr lang="en-GB" sz="2800" dirty="0">
                              <a:latin typeface="Times New Roman" panose="02020603050405020304" pitchFamily="18" charset="0"/>
                              <a:cs typeface="Times New Roman" panose="02020603050405020304" pitchFamily="18" charset="0"/>
                            </a:rPr>
                            <a:t>L2RE</a:t>
                          </a:r>
                        </a:p>
                      </a:txBody>
                      <a:tcPr/>
                    </a:tc>
                    <a:extLst>
                      <a:ext uri="{0D108BD9-81ED-4DB2-BD59-A6C34878D82A}">
                        <a16:rowId xmlns:a16="http://schemas.microsoft.com/office/drawing/2014/main" val="2361387059"/>
                      </a:ext>
                    </a:extLst>
                  </a:tr>
                  <a:tr h="370840">
                    <a:tc>
                      <a:txBody>
                        <a:bodyPr/>
                        <a:lstStyle/>
                        <a:p>
                          <a:pPr algn="ctr"/>
                          <a:r>
                            <a:rPr lang="en-GB" sz="2800" dirty="0">
                              <a:latin typeface="Times New Roman" panose="02020603050405020304" pitchFamily="18" charset="0"/>
                              <a:cs typeface="Times New Roman" panose="02020603050405020304" pitchFamily="18" charset="0"/>
                            </a:rPr>
                            <a:t>Validation dataset</a:t>
                          </a:r>
                        </a:p>
                      </a:txBody>
                      <a:tcPr/>
                    </a:tc>
                    <a:tc>
                      <a:txBody>
                        <a:bodyPr/>
                        <a:lstStyle/>
                        <a:p>
                          <a:pPr algn="ctr"/>
                          <a:r>
                            <a:rPr lang="en-GB" sz="2800" dirty="0">
                              <a:latin typeface="Times New Roman" panose="02020603050405020304" pitchFamily="18" charset="0"/>
                              <a:cs typeface="Times New Roman" panose="02020603050405020304" pitchFamily="18" charset="0"/>
                            </a:rPr>
                            <a:t>0.0202</a:t>
                          </a:r>
                        </a:p>
                      </a:txBody>
                      <a:tcPr/>
                    </a:tc>
                    <a:extLst>
                      <a:ext uri="{0D108BD9-81ED-4DB2-BD59-A6C34878D82A}">
                        <a16:rowId xmlns:a16="http://schemas.microsoft.com/office/drawing/2014/main" val="3615175346"/>
                      </a:ext>
                    </a:extLst>
                  </a:tr>
                  <a:tr h="370840">
                    <a:tc>
                      <a:txBody>
                        <a:bodyPr/>
                        <a:lstStyle/>
                        <a:p>
                          <a:pPr algn="ctr"/>
                          <a:r>
                            <a:rPr lang="en-GB" sz="2800" dirty="0">
                              <a:latin typeface="Times New Roman" panose="02020603050405020304" pitchFamily="18" charset="0"/>
                              <a:cs typeface="Times New Roman" panose="02020603050405020304" pitchFamily="18" charset="0"/>
                            </a:rPr>
                            <a:t>Test dataset</a:t>
                          </a:r>
                        </a:p>
                      </a:txBody>
                      <a:tcPr/>
                    </a:tc>
                    <a:tc>
                      <a:txBody>
                        <a:bodyPr/>
                        <a:lstStyle/>
                        <a:p>
                          <a:pPr algn="ctr"/>
                          <a:r>
                            <a:rPr lang="en-GB" sz="2800" dirty="0">
                              <a:latin typeface="Times New Roman" panose="02020603050405020304" pitchFamily="18" charset="0"/>
                              <a:cs typeface="Times New Roman" panose="02020603050405020304" pitchFamily="18" charset="0"/>
                            </a:rPr>
                            <a:t>0.0190</a:t>
                          </a:r>
                        </a:p>
                      </a:txBody>
                      <a:tcPr/>
                    </a:tc>
                    <a:extLst>
                      <a:ext uri="{0D108BD9-81ED-4DB2-BD59-A6C34878D82A}">
                        <a16:rowId xmlns:a16="http://schemas.microsoft.com/office/drawing/2014/main" val="2240026723"/>
                      </a:ext>
                    </a:extLst>
                  </a:tr>
                  <a:tr h="370840">
                    <a:tc>
                      <a:txBody>
                        <a:bodyPr/>
                        <a:lstStyle/>
                        <a:p>
                          <a:pPr algn="ctr"/>
                          <a14:m>
                            <m:oMathPara xmlns:m="http://schemas.openxmlformats.org/officeDocument/2006/math">
                              <m:oMathParaPr>
                                <m:jc m:val="center"/>
                              </m:oMathParaPr>
                              <m:o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𝑚</m:t>
                                    </m:r>
                                  </m:e>
                                  <m:sub>
                                    <m:r>
                                      <a:rPr lang="en-US" sz="2800" b="0" i="1" smtClean="0">
                                        <a:latin typeface="Cambria Math" panose="02040503050406030204" pitchFamily="18" charset="0"/>
                                      </a:rPr>
                                      <m:t>+</m:t>
                                    </m:r>
                                  </m:sub>
                                </m:sSub>
                                <m:r>
                                  <a:rPr lang="en-US" sz="2800" b="0" i="1" smtClean="0">
                                    <a:latin typeface="Cambria Math" panose="02040503050406030204" pitchFamily="18" charset="0"/>
                                  </a:rPr>
                                  <m:t>=0.15</m:t>
                                </m:r>
                              </m:oMath>
                            </m:oMathPara>
                          </a14:m>
                          <a:endParaRPr lang="en-US" sz="2800" b="0" dirty="0">
                            <a:latin typeface="Times New Roman" panose="02020603050405020304" pitchFamily="18" charset="0"/>
                            <a:cs typeface="Times New Roman" panose="02020603050405020304" pitchFamily="18" charset="0"/>
                          </a:endParaRPr>
                        </a:p>
                      </a:txBody>
                      <a:tcPr/>
                    </a:tc>
                    <a:tc>
                      <a:txBody>
                        <a:bodyPr/>
                        <a:lstStyle/>
                        <a:p>
                          <a:pPr algn="ctr"/>
                          <a:r>
                            <a:rPr lang="en-GB" sz="2800" dirty="0">
                              <a:latin typeface="Times New Roman" panose="02020603050405020304" pitchFamily="18" charset="0"/>
                              <a:cs typeface="Times New Roman" panose="02020603050405020304" pitchFamily="18" charset="0"/>
                            </a:rPr>
                            <a:t>0.0501</a:t>
                          </a:r>
                        </a:p>
                      </a:txBody>
                      <a:tcPr/>
                    </a:tc>
                    <a:extLst>
                      <a:ext uri="{0D108BD9-81ED-4DB2-BD59-A6C34878D82A}">
                        <a16:rowId xmlns:a16="http://schemas.microsoft.com/office/drawing/2014/main" val="3362716312"/>
                      </a:ext>
                    </a:extLst>
                  </a:tr>
                  <a:tr h="370840">
                    <a:tc>
                      <a:txBody>
                        <a:bodyPr/>
                        <a:lstStyle/>
                        <a:p>
                          <a:pPr algn="ctr"/>
                          <a14:m>
                            <m:oMathPara xmlns:m="http://schemas.openxmlformats.org/officeDocument/2006/math">
                              <m:oMathParaPr>
                                <m:jc m:val="center"/>
                              </m:oMathParaPr>
                              <m:o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𝑚</m:t>
                                    </m:r>
                                  </m:e>
                                  <m:sub>
                                    <m:r>
                                      <a:rPr lang="en-US" sz="2800" b="0" i="1" smtClean="0">
                                        <a:latin typeface="Cambria Math" panose="02040503050406030204" pitchFamily="18" charset="0"/>
                                      </a:rPr>
                                      <m:t>+</m:t>
                                    </m:r>
                                  </m:sub>
                                </m:sSub>
                                <m:r>
                                  <a:rPr lang="en-US" sz="2800" b="0" i="1" smtClean="0">
                                    <a:latin typeface="Cambria Math" panose="02040503050406030204" pitchFamily="18" charset="0"/>
                                  </a:rPr>
                                  <m:t>=0.25</m:t>
                                </m:r>
                              </m:oMath>
                            </m:oMathPara>
                          </a14:m>
                          <a:endParaRPr lang="en-GB" sz="2800" dirty="0">
                            <a:latin typeface="Times New Roman" panose="02020603050405020304" pitchFamily="18" charset="0"/>
                            <a:cs typeface="Times New Roman" panose="02020603050405020304" pitchFamily="18" charset="0"/>
                          </a:endParaRPr>
                        </a:p>
                      </a:txBody>
                      <a:tcPr/>
                    </a:tc>
                    <a:tc>
                      <a:txBody>
                        <a:bodyPr/>
                        <a:lstStyle/>
                        <a:p>
                          <a:pPr algn="ctr"/>
                          <a:r>
                            <a:rPr lang="en-GB" sz="2800" dirty="0">
                              <a:latin typeface="Times New Roman" panose="02020603050405020304" pitchFamily="18" charset="0"/>
                              <a:cs typeface="Times New Roman" panose="02020603050405020304" pitchFamily="18" charset="0"/>
                            </a:rPr>
                            <a:t>0.0204</a:t>
                          </a:r>
                        </a:p>
                      </a:txBody>
                      <a:tcPr/>
                    </a:tc>
                    <a:extLst>
                      <a:ext uri="{0D108BD9-81ED-4DB2-BD59-A6C34878D82A}">
                        <a16:rowId xmlns:a16="http://schemas.microsoft.com/office/drawing/2014/main" val="611237339"/>
                      </a:ext>
                    </a:extLst>
                  </a:tr>
                  <a:tr h="370840">
                    <a:tc>
                      <a:txBody>
                        <a:bodyPr/>
                        <a:lstStyle/>
                        <a:p>
                          <a:pPr algn="ctr"/>
                          <a14:m>
                            <m:oMathPara xmlns:m="http://schemas.openxmlformats.org/officeDocument/2006/math">
                              <m:oMathParaPr>
                                <m:jc m:val="center"/>
                              </m:oMathParaPr>
                              <m:o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𝑚</m:t>
                                    </m:r>
                                  </m:e>
                                  <m:sub>
                                    <m:r>
                                      <a:rPr lang="en-US" sz="2800" b="0" i="1" smtClean="0">
                                        <a:latin typeface="Cambria Math" panose="02040503050406030204" pitchFamily="18" charset="0"/>
                                      </a:rPr>
                                      <m:t>+</m:t>
                                    </m:r>
                                  </m:sub>
                                </m:sSub>
                                <m:r>
                                  <a:rPr lang="en-US" sz="2800" b="0" i="1" smtClean="0">
                                    <a:latin typeface="Cambria Math" panose="02040503050406030204" pitchFamily="18" charset="0"/>
                                  </a:rPr>
                                  <m:t>=0.35</m:t>
                                </m:r>
                              </m:oMath>
                            </m:oMathPara>
                          </a14:m>
                          <a:endParaRPr lang="en-GB" sz="2800" dirty="0">
                            <a:latin typeface="Times New Roman" panose="02020603050405020304" pitchFamily="18" charset="0"/>
                            <a:cs typeface="Times New Roman" panose="02020603050405020304" pitchFamily="18" charset="0"/>
                          </a:endParaRPr>
                        </a:p>
                      </a:txBody>
                      <a:tcPr/>
                    </a:tc>
                    <a:tc>
                      <a:txBody>
                        <a:bodyPr/>
                        <a:lstStyle/>
                        <a:p>
                          <a:pPr algn="ctr"/>
                          <a:r>
                            <a:rPr lang="en-GB" sz="2800" dirty="0">
                              <a:latin typeface="Times New Roman" panose="02020603050405020304" pitchFamily="18" charset="0"/>
                              <a:cs typeface="Times New Roman" panose="02020603050405020304" pitchFamily="18" charset="0"/>
                            </a:rPr>
                            <a:t>0.0085</a:t>
                          </a:r>
                        </a:p>
                      </a:txBody>
                      <a:tcPr/>
                    </a:tc>
                    <a:extLst>
                      <a:ext uri="{0D108BD9-81ED-4DB2-BD59-A6C34878D82A}">
                        <a16:rowId xmlns:a16="http://schemas.microsoft.com/office/drawing/2014/main" val="193139984"/>
                      </a:ext>
                    </a:extLst>
                  </a:tr>
                  <a:tr h="208813">
                    <a:tc>
                      <a:txBody>
                        <a:bodyPr/>
                        <a:lstStyle/>
                        <a:p>
                          <a:pPr algn="ctr"/>
                          <a14:m>
                            <m:oMathPara xmlns:m="http://schemas.openxmlformats.org/officeDocument/2006/math">
                              <m:oMathParaPr>
                                <m:jc m:val="center"/>
                              </m:oMathParaPr>
                              <m:o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𝑚</m:t>
                                    </m:r>
                                  </m:e>
                                  <m:sub>
                                    <m:r>
                                      <a:rPr lang="en-US" sz="2800" b="0" i="1" smtClean="0">
                                        <a:latin typeface="Cambria Math" panose="02040503050406030204" pitchFamily="18" charset="0"/>
                                      </a:rPr>
                                      <m:t>+</m:t>
                                    </m:r>
                                  </m:sub>
                                </m:sSub>
                                <m:r>
                                  <a:rPr lang="en-US" sz="2800" b="0" i="1" smtClean="0">
                                    <a:latin typeface="Cambria Math" panose="02040503050406030204" pitchFamily="18" charset="0"/>
                                  </a:rPr>
                                  <m:t>=0.45</m:t>
                                </m:r>
                              </m:oMath>
                            </m:oMathPara>
                          </a14:m>
                          <a:endParaRPr lang="en-GB" sz="2800" dirty="0">
                            <a:latin typeface="Times New Roman" panose="02020603050405020304" pitchFamily="18" charset="0"/>
                            <a:cs typeface="Times New Roman" panose="02020603050405020304" pitchFamily="18" charset="0"/>
                          </a:endParaRPr>
                        </a:p>
                      </a:txBody>
                      <a:tcPr/>
                    </a:tc>
                    <a:tc>
                      <a:txBody>
                        <a:bodyPr/>
                        <a:lstStyle/>
                        <a:p>
                          <a:pPr algn="ctr"/>
                          <a:r>
                            <a:rPr lang="en-GB" sz="2800" dirty="0">
                              <a:latin typeface="Times New Roman" panose="02020603050405020304" pitchFamily="18" charset="0"/>
                              <a:cs typeface="Times New Roman" panose="02020603050405020304" pitchFamily="18" charset="0"/>
                            </a:rPr>
                            <a:t>0.0046</a:t>
                          </a:r>
                        </a:p>
                      </a:txBody>
                      <a:tcPr/>
                    </a:tc>
                    <a:extLst>
                      <a:ext uri="{0D108BD9-81ED-4DB2-BD59-A6C34878D82A}">
                        <a16:rowId xmlns:a16="http://schemas.microsoft.com/office/drawing/2014/main" val="2166165612"/>
                      </a:ext>
                    </a:extLst>
                  </a:tr>
                </a:tbl>
              </a:graphicData>
            </a:graphic>
          </p:graphicFrame>
        </mc:Choice>
        <mc:Fallback xmlns="">
          <p:graphicFrame>
            <p:nvGraphicFramePr>
              <p:cNvPr id="5" name="Table 4">
                <a:extLst>
                  <a:ext uri="{FF2B5EF4-FFF2-40B4-BE49-F238E27FC236}">
                    <a16:creationId xmlns:a16="http://schemas.microsoft.com/office/drawing/2014/main" id="{4355F23D-5E46-D528-BA9D-E9FF9DCAF29D}"/>
                  </a:ext>
                </a:extLst>
              </p:cNvPr>
              <p:cNvGraphicFramePr>
                <a:graphicFrameLocks noGrp="1"/>
              </p:cNvGraphicFramePr>
              <p:nvPr>
                <p:extLst>
                  <p:ext uri="{D42A27DB-BD31-4B8C-83A1-F6EECF244321}">
                    <p14:modId xmlns:p14="http://schemas.microsoft.com/office/powerpoint/2010/main" val="756294735"/>
                  </p:ext>
                </p:extLst>
              </p:nvPr>
            </p:nvGraphicFramePr>
            <p:xfrm>
              <a:off x="2113887" y="2549843"/>
              <a:ext cx="8128000" cy="36271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3625390857"/>
                        </a:ext>
                      </a:extLst>
                    </a:gridCol>
                    <a:gridCol w="4064000">
                      <a:extLst>
                        <a:ext uri="{9D8B030D-6E8A-4147-A177-3AD203B41FA5}">
                          <a16:colId xmlns:a16="http://schemas.microsoft.com/office/drawing/2014/main" val="1200038916"/>
                        </a:ext>
                      </a:extLst>
                    </a:gridCol>
                  </a:tblGrid>
                  <a:tr h="518160">
                    <a:tc>
                      <a:txBody>
                        <a:bodyPr/>
                        <a:lstStyle/>
                        <a:p>
                          <a:pPr algn="ctr"/>
                          <a:endParaRPr lang="en-GB" sz="2800" dirty="0">
                            <a:latin typeface="Times New Roman" panose="02020603050405020304" pitchFamily="18" charset="0"/>
                            <a:cs typeface="Times New Roman" panose="02020603050405020304" pitchFamily="18" charset="0"/>
                          </a:endParaRPr>
                        </a:p>
                      </a:txBody>
                      <a:tcPr/>
                    </a:tc>
                    <a:tc>
                      <a:txBody>
                        <a:bodyPr/>
                        <a:lstStyle/>
                        <a:p>
                          <a:pPr algn="ctr"/>
                          <a:r>
                            <a:rPr lang="en-GB" sz="2800" dirty="0">
                              <a:latin typeface="Times New Roman" panose="02020603050405020304" pitchFamily="18" charset="0"/>
                              <a:cs typeface="Times New Roman" panose="02020603050405020304" pitchFamily="18" charset="0"/>
                            </a:rPr>
                            <a:t>L2RE</a:t>
                          </a:r>
                        </a:p>
                      </a:txBody>
                      <a:tcPr/>
                    </a:tc>
                    <a:extLst>
                      <a:ext uri="{0D108BD9-81ED-4DB2-BD59-A6C34878D82A}">
                        <a16:rowId xmlns:a16="http://schemas.microsoft.com/office/drawing/2014/main" val="2361387059"/>
                      </a:ext>
                    </a:extLst>
                  </a:tr>
                  <a:tr h="518160">
                    <a:tc>
                      <a:txBody>
                        <a:bodyPr/>
                        <a:lstStyle/>
                        <a:p>
                          <a:pPr algn="ctr"/>
                          <a:r>
                            <a:rPr lang="en-GB" sz="2800" dirty="0">
                              <a:latin typeface="Times New Roman" panose="02020603050405020304" pitchFamily="18" charset="0"/>
                              <a:cs typeface="Times New Roman" panose="02020603050405020304" pitchFamily="18" charset="0"/>
                            </a:rPr>
                            <a:t>Validation dataset</a:t>
                          </a:r>
                        </a:p>
                      </a:txBody>
                      <a:tcPr/>
                    </a:tc>
                    <a:tc>
                      <a:txBody>
                        <a:bodyPr/>
                        <a:lstStyle/>
                        <a:p>
                          <a:pPr algn="ctr"/>
                          <a:r>
                            <a:rPr lang="en-GB" sz="2800" dirty="0">
                              <a:latin typeface="Times New Roman" panose="02020603050405020304" pitchFamily="18" charset="0"/>
                              <a:cs typeface="Times New Roman" panose="02020603050405020304" pitchFamily="18" charset="0"/>
                            </a:rPr>
                            <a:t>0.0202</a:t>
                          </a:r>
                        </a:p>
                      </a:txBody>
                      <a:tcPr/>
                    </a:tc>
                    <a:extLst>
                      <a:ext uri="{0D108BD9-81ED-4DB2-BD59-A6C34878D82A}">
                        <a16:rowId xmlns:a16="http://schemas.microsoft.com/office/drawing/2014/main" val="3615175346"/>
                      </a:ext>
                    </a:extLst>
                  </a:tr>
                  <a:tr h="518160">
                    <a:tc>
                      <a:txBody>
                        <a:bodyPr/>
                        <a:lstStyle/>
                        <a:p>
                          <a:pPr algn="ctr"/>
                          <a:r>
                            <a:rPr lang="en-GB" sz="2800" dirty="0">
                              <a:latin typeface="Times New Roman" panose="02020603050405020304" pitchFamily="18" charset="0"/>
                              <a:cs typeface="Times New Roman" panose="02020603050405020304" pitchFamily="18" charset="0"/>
                            </a:rPr>
                            <a:t>Test dataset</a:t>
                          </a:r>
                        </a:p>
                      </a:txBody>
                      <a:tcPr/>
                    </a:tc>
                    <a:tc>
                      <a:txBody>
                        <a:bodyPr/>
                        <a:lstStyle/>
                        <a:p>
                          <a:pPr algn="ctr"/>
                          <a:r>
                            <a:rPr lang="en-GB" sz="2800" dirty="0">
                              <a:latin typeface="Times New Roman" panose="02020603050405020304" pitchFamily="18" charset="0"/>
                              <a:cs typeface="Times New Roman" panose="02020603050405020304" pitchFamily="18" charset="0"/>
                            </a:rPr>
                            <a:t>0.0190</a:t>
                          </a:r>
                        </a:p>
                      </a:txBody>
                      <a:tcPr/>
                    </a:tc>
                    <a:extLst>
                      <a:ext uri="{0D108BD9-81ED-4DB2-BD59-A6C34878D82A}">
                        <a16:rowId xmlns:a16="http://schemas.microsoft.com/office/drawing/2014/main" val="2240026723"/>
                      </a:ext>
                    </a:extLst>
                  </a:tr>
                  <a:tr h="518160">
                    <a:tc>
                      <a:txBody>
                        <a:bodyPr/>
                        <a:lstStyle/>
                        <a:p>
                          <a:endParaRPr lang="en-US"/>
                        </a:p>
                      </a:txBody>
                      <a:tcPr>
                        <a:blipFill>
                          <a:blip r:embed="rId2"/>
                          <a:stretch>
                            <a:fillRect l="-150" t="-308140" r="-100449" b="-327907"/>
                          </a:stretch>
                        </a:blipFill>
                      </a:tcPr>
                    </a:tc>
                    <a:tc>
                      <a:txBody>
                        <a:bodyPr/>
                        <a:lstStyle/>
                        <a:p>
                          <a:pPr algn="ctr"/>
                          <a:r>
                            <a:rPr lang="en-GB" sz="2800" dirty="0">
                              <a:latin typeface="Times New Roman" panose="02020603050405020304" pitchFamily="18" charset="0"/>
                              <a:cs typeface="Times New Roman" panose="02020603050405020304" pitchFamily="18" charset="0"/>
                            </a:rPr>
                            <a:t>0.0501</a:t>
                          </a:r>
                        </a:p>
                      </a:txBody>
                      <a:tcPr/>
                    </a:tc>
                    <a:extLst>
                      <a:ext uri="{0D108BD9-81ED-4DB2-BD59-A6C34878D82A}">
                        <a16:rowId xmlns:a16="http://schemas.microsoft.com/office/drawing/2014/main" val="3362716312"/>
                      </a:ext>
                    </a:extLst>
                  </a:tr>
                  <a:tr h="518160">
                    <a:tc>
                      <a:txBody>
                        <a:bodyPr/>
                        <a:lstStyle/>
                        <a:p>
                          <a:endParaRPr lang="en-US"/>
                        </a:p>
                      </a:txBody>
                      <a:tcPr>
                        <a:blipFill>
                          <a:blip r:embed="rId2"/>
                          <a:stretch>
                            <a:fillRect l="-150" t="-412941" r="-100449" b="-231765"/>
                          </a:stretch>
                        </a:blipFill>
                      </a:tcPr>
                    </a:tc>
                    <a:tc>
                      <a:txBody>
                        <a:bodyPr/>
                        <a:lstStyle/>
                        <a:p>
                          <a:pPr algn="ctr"/>
                          <a:r>
                            <a:rPr lang="en-GB" sz="2800" dirty="0">
                              <a:latin typeface="Times New Roman" panose="02020603050405020304" pitchFamily="18" charset="0"/>
                              <a:cs typeface="Times New Roman" panose="02020603050405020304" pitchFamily="18" charset="0"/>
                            </a:rPr>
                            <a:t>0.0204</a:t>
                          </a:r>
                        </a:p>
                      </a:txBody>
                      <a:tcPr/>
                    </a:tc>
                    <a:extLst>
                      <a:ext uri="{0D108BD9-81ED-4DB2-BD59-A6C34878D82A}">
                        <a16:rowId xmlns:a16="http://schemas.microsoft.com/office/drawing/2014/main" val="611237339"/>
                      </a:ext>
                    </a:extLst>
                  </a:tr>
                  <a:tr h="518160">
                    <a:tc>
                      <a:txBody>
                        <a:bodyPr/>
                        <a:lstStyle/>
                        <a:p>
                          <a:endParaRPr lang="en-US"/>
                        </a:p>
                      </a:txBody>
                      <a:tcPr>
                        <a:blipFill>
                          <a:blip r:embed="rId2"/>
                          <a:stretch>
                            <a:fillRect l="-150" t="-512941" r="-100449" b="-131765"/>
                          </a:stretch>
                        </a:blipFill>
                      </a:tcPr>
                    </a:tc>
                    <a:tc>
                      <a:txBody>
                        <a:bodyPr/>
                        <a:lstStyle/>
                        <a:p>
                          <a:pPr algn="ctr"/>
                          <a:r>
                            <a:rPr lang="en-GB" sz="2800" dirty="0">
                              <a:latin typeface="Times New Roman" panose="02020603050405020304" pitchFamily="18" charset="0"/>
                              <a:cs typeface="Times New Roman" panose="02020603050405020304" pitchFamily="18" charset="0"/>
                            </a:rPr>
                            <a:t>0.0085</a:t>
                          </a:r>
                        </a:p>
                      </a:txBody>
                      <a:tcPr/>
                    </a:tc>
                    <a:extLst>
                      <a:ext uri="{0D108BD9-81ED-4DB2-BD59-A6C34878D82A}">
                        <a16:rowId xmlns:a16="http://schemas.microsoft.com/office/drawing/2014/main" val="193139984"/>
                      </a:ext>
                    </a:extLst>
                  </a:tr>
                  <a:tr h="518160">
                    <a:tc>
                      <a:txBody>
                        <a:bodyPr/>
                        <a:lstStyle/>
                        <a:p>
                          <a:endParaRPr lang="en-US"/>
                        </a:p>
                      </a:txBody>
                      <a:tcPr>
                        <a:blipFill>
                          <a:blip r:embed="rId2"/>
                          <a:stretch>
                            <a:fillRect l="-150" t="-612941" r="-100449" b="-31765"/>
                          </a:stretch>
                        </a:blipFill>
                      </a:tcPr>
                    </a:tc>
                    <a:tc>
                      <a:txBody>
                        <a:bodyPr/>
                        <a:lstStyle/>
                        <a:p>
                          <a:pPr algn="ctr"/>
                          <a:r>
                            <a:rPr lang="en-GB" sz="2800" dirty="0">
                              <a:latin typeface="Times New Roman" panose="02020603050405020304" pitchFamily="18" charset="0"/>
                              <a:cs typeface="Times New Roman" panose="02020603050405020304" pitchFamily="18" charset="0"/>
                            </a:rPr>
                            <a:t>0.0046</a:t>
                          </a:r>
                        </a:p>
                      </a:txBody>
                      <a:tcPr/>
                    </a:tc>
                    <a:extLst>
                      <a:ext uri="{0D108BD9-81ED-4DB2-BD59-A6C34878D82A}">
                        <a16:rowId xmlns:a16="http://schemas.microsoft.com/office/drawing/2014/main" val="2166165612"/>
                      </a:ext>
                    </a:extLst>
                  </a:tr>
                </a:tbl>
              </a:graphicData>
            </a:graphic>
          </p:graphicFrame>
        </mc:Fallback>
      </mc:AlternateContent>
    </p:spTree>
    <p:extLst>
      <p:ext uri="{BB962C8B-B14F-4D97-AF65-F5344CB8AC3E}">
        <p14:creationId xmlns:p14="http://schemas.microsoft.com/office/powerpoint/2010/main" val="15896335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1495B-EDBE-A656-E510-E3AB751A6968}"/>
              </a:ext>
            </a:extLst>
          </p:cNvPr>
          <p:cNvSpPr>
            <a:spLocks noGrp="1"/>
          </p:cNvSpPr>
          <p:nvPr>
            <p:ph type="title"/>
          </p:nvPr>
        </p:nvSpPr>
        <p:spPr>
          <a:xfrm>
            <a:off x="838200" y="2766218"/>
            <a:ext cx="10515600" cy="1325563"/>
          </a:xfrm>
        </p:spPr>
        <p:txBody>
          <a:bodyPr/>
          <a:lstStyle/>
          <a:p>
            <a:r>
              <a:rPr lang="en-GB" dirty="0"/>
              <a:t>Loss graphs</a:t>
            </a:r>
          </a:p>
        </p:txBody>
      </p:sp>
      <p:pic>
        <p:nvPicPr>
          <p:cNvPr id="5" name="Content Placeholder 4">
            <a:extLst>
              <a:ext uri="{FF2B5EF4-FFF2-40B4-BE49-F238E27FC236}">
                <a16:creationId xmlns:a16="http://schemas.microsoft.com/office/drawing/2014/main" id="{70CBE8E5-21E2-66BD-5D28-775B049DF38D}"/>
              </a:ext>
            </a:extLst>
          </p:cNvPr>
          <p:cNvPicPr>
            <a:picLocks noGrp="1" noChangeAspect="1"/>
          </p:cNvPicPr>
          <p:nvPr>
            <p:ph idx="1"/>
          </p:nvPr>
        </p:nvPicPr>
        <p:blipFill>
          <a:blip r:embed="rId2"/>
          <a:stretch>
            <a:fillRect/>
          </a:stretch>
        </p:blipFill>
        <p:spPr>
          <a:xfrm>
            <a:off x="4324447" y="365125"/>
            <a:ext cx="7029353" cy="3273210"/>
          </a:xfrm>
          <a:prstGeom prst="rect">
            <a:avLst/>
          </a:prstGeom>
        </p:spPr>
      </p:pic>
      <p:pic>
        <p:nvPicPr>
          <p:cNvPr id="7" name="Picture 6">
            <a:extLst>
              <a:ext uri="{FF2B5EF4-FFF2-40B4-BE49-F238E27FC236}">
                <a16:creationId xmlns:a16="http://schemas.microsoft.com/office/drawing/2014/main" id="{37620B08-7207-4CA9-789B-890C3442F6F8}"/>
              </a:ext>
            </a:extLst>
          </p:cNvPr>
          <p:cNvPicPr>
            <a:picLocks noChangeAspect="1"/>
          </p:cNvPicPr>
          <p:nvPr/>
        </p:nvPicPr>
        <p:blipFill>
          <a:blip r:embed="rId3"/>
          <a:stretch>
            <a:fillRect/>
          </a:stretch>
        </p:blipFill>
        <p:spPr>
          <a:xfrm>
            <a:off x="4324448" y="3184306"/>
            <a:ext cx="7029352" cy="3308569"/>
          </a:xfrm>
          <a:prstGeom prst="rect">
            <a:avLst/>
          </a:prstGeom>
        </p:spPr>
      </p:pic>
    </p:spTree>
    <p:extLst>
      <p:ext uri="{BB962C8B-B14F-4D97-AF65-F5344CB8AC3E}">
        <p14:creationId xmlns:p14="http://schemas.microsoft.com/office/powerpoint/2010/main" val="41977882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19FA433-BF8B-00E4-3CD9-FD992150BCE5}"/>
                  </a:ext>
                </a:extLst>
              </p:cNvPr>
              <p:cNvSpPr>
                <a:spLocks noGrp="1"/>
              </p:cNvSpPr>
              <p:nvPr>
                <p:ph type="title"/>
              </p:nvPr>
            </p:nvSpPr>
            <p:spPr>
              <a:xfrm>
                <a:off x="838201" y="2829615"/>
                <a:ext cx="3144538" cy="1325563"/>
              </a:xfrm>
            </p:spPr>
            <p:txBody>
              <a:bodyPr>
                <a:normAutofit fontScale="90000"/>
              </a:bodyPr>
              <a:lstStyle/>
              <a:p>
                <a14:m>
                  <m:oMath xmlns:m="http://schemas.openxmlformats.org/officeDocument/2006/math">
                    <m:r>
                      <a:rPr lang="en-US" b="0" i="1" smtClean="0">
                        <a:latin typeface="Cambria Math" panose="02040503050406030204" pitchFamily="18" charset="0"/>
                      </a:rPr>
                      <m:t>×2.5</m:t>
                    </m:r>
                  </m:oMath>
                </a14:m>
                <a:r>
                  <a:rPr lang="en-US" b="0" dirty="0"/>
                  <a:t> resolution</a:t>
                </a:r>
                <a:br>
                  <a:rPr lang="en-US" b="0" dirty="0"/>
                </a:br>
                <a:r>
                  <a:rPr lang="en-US" b="0" dirty="0"/>
                  <a:t>(2D)</a:t>
                </a:r>
                <a:endParaRPr lang="en-GB" dirty="0"/>
              </a:p>
            </p:txBody>
          </p:sp>
        </mc:Choice>
        <mc:Fallback xmlns="">
          <p:sp>
            <p:nvSpPr>
              <p:cNvPr id="2" name="Title 1">
                <a:extLst>
                  <a:ext uri="{FF2B5EF4-FFF2-40B4-BE49-F238E27FC236}">
                    <a16:creationId xmlns:a16="http://schemas.microsoft.com/office/drawing/2014/main" id="{A19FA433-BF8B-00E4-3CD9-FD992150BCE5}"/>
                  </a:ext>
                </a:extLst>
              </p:cNvPr>
              <p:cNvSpPr>
                <a:spLocks noGrp="1" noRot="1" noChangeAspect="1" noMove="1" noResize="1" noEditPoints="1" noAdjustHandles="1" noChangeArrowheads="1" noChangeShapeType="1" noTextEdit="1"/>
              </p:cNvSpPr>
              <p:nvPr>
                <p:ph type="title"/>
              </p:nvPr>
            </p:nvSpPr>
            <p:spPr>
              <a:xfrm>
                <a:off x="838201" y="2829615"/>
                <a:ext cx="3144538" cy="1325563"/>
              </a:xfrm>
              <a:blipFill>
                <a:blip r:embed="rId2"/>
                <a:stretch>
                  <a:fillRect l="-6990" t="-6881" b="-34862"/>
                </a:stretch>
              </a:blipFill>
            </p:spPr>
            <p:txBody>
              <a:bodyPr/>
              <a:lstStyle/>
              <a:p>
                <a:r>
                  <a:rPr lang="en-GB">
                    <a:noFill/>
                  </a:rPr>
                  <a:t> </a:t>
                </a:r>
              </a:p>
            </p:txBody>
          </p:sp>
        </mc:Fallback>
      </mc:AlternateContent>
      <p:pic>
        <p:nvPicPr>
          <p:cNvPr id="5" name="Content Placeholder 4">
            <a:extLst>
              <a:ext uri="{FF2B5EF4-FFF2-40B4-BE49-F238E27FC236}">
                <a16:creationId xmlns:a16="http://schemas.microsoft.com/office/drawing/2014/main" id="{5A3CD1B6-0B14-E2AE-A028-04494D8BF26C}"/>
              </a:ext>
            </a:extLst>
          </p:cNvPr>
          <p:cNvPicPr>
            <a:picLocks noGrp="1" noChangeAspect="1"/>
          </p:cNvPicPr>
          <p:nvPr>
            <p:ph idx="1"/>
          </p:nvPr>
        </p:nvPicPr>
        <p:blipFill>
          <a:blip r:embed="rId3"/>
          <a:stretch>
            <a:fillRect/>
          </a:stretch>
        </p:blipFill>
        <p:spPr>
          <a:xfrm>
            <a:off x="3982740" y="63397"/>
            <a:ext cx="4104629" cy="3429000"/>
          </a:xfrm>
          <a:prstGeom prst="rect">
            <a:avLst/>
          </a:prstGeom>
        </p:spPr>
      </p:pic>
      <p:pic>
        <p:nvPicPr>
          <p:cNvPr id="7" name="Picture 6">
            <a:extLst>
              <a:ext uri="{FF2B5EF4-FFF2-40B4-BE49-F238E27FC236}">
                <a16:creationId xmlns:a16="http://schemas.microsoft.com/office/drawing/2014/main" id="{35A69C0C-FB1E-5844-2A73-565CA3A4A241}"/>
              </a:ext>
            </a:extLst>
          </p:cNvPr>
          <p:cNvPicPr>
            <a:picLocks noChangeAspect="1"/>
          </p:cNvPicPr>
          <p:nvPr/>
        </p:nvPicPr>
        <p:blipFill>
          <a:blip r:embed="rId4"/>
          <a:stretch>
            <a:fillRect/>
          </a:stretch>
        </p:blipFill>
        <p:spPr>
          <a:xfrm>
            <a:off x="8087371" y="79066"/>
            <a:ext cx="4104629" cy="3429000"/>
          </a:xfrm>
          <a:prstGeom prst="rect">
            <a:avLst/>
          </a:prstGeom>
        </p:spPr>
      </p:pic>
      <p:pic>
        <p:nvPicPr>
          <p:cNvPr id="9" name="Picture 8">
            <a:extLst>
              <a:ext uri="{FF2B5EF4-FFF2-40B4-BE49-F238E27FC236}">
                <a16:creationId xmlns:a16="http://schemas.microsoft.com/office/drawing/2014/main" id="{F46806BA-7895-9088-140F-655F6087416D}"/>
              </a:ext>
            </a:extLst>
          </p:cNvPr>
          <p:cNvPicPr>
            <a:picLocks noChangeAspect="1"/>
          </p:cNvPicPr>
          <p:nvPr/>
        </p:nvPicPr>
        <p:blipFill>
          <a:blip r:embed="rId5"/>
          <a:stretch>
            <a:fillRect/>
          </a:stretch>
        </p:blipFill>
        <p:spPr>
          <a:xfrm>
            <a:off x="3982740" y="3413331"/>
            <a:ext cx="4104629" cy="3429000"/>
          </a:xfrm>
          <a:prstGeom prst="rect">
            <a:avLst/>
          </a:prstGeom>
        </p:spPr>
      </p:pic>
      <p:pic>
        <p:nvPicPr>
          <p:cNvPr id="11" name="Picture 10">
            <a:extLst>
              <a:ext uri="{FF2B5EF4-FFF2-40B4-BE49-F238E27FC236}">
                <a16:creationId xmlns:a16="http://schemas.microsoft.com/office/drawing/2014/main" id="{A09FE6CD-08F0-5C25-3CD3-DBC38004D9A4}"/>
              </a:ext>
            </a:extLst>
          </p:cNvPr>
          <p:cNvPicPr>
            <a:picLocks noChangeAspect="1"/>
          </p:cNvPicPr>
          <p:nvPr/>
        </p:nvPicPr>
        <p:blipFill>
          <a:blip r:embed="rId6"/>
          <a:stretch>
            <a:fillRect/>
          </a:stretch>
        </p:blipFill>
        <p:spPr>
          <a:xfrm>
            <a:off x="8087371" y="3429000"/>
            <a:ext cx="4104629" cy="3429000"/>
          </a:xfrm>
          <a:prstGeom prst="rect">
            <a:avLst/>
          </a:prstGeom>
        </p:spPr>
      </p:pic>
    </p:spTree>
    <p:extLst>
      <p:ext uri="{BB962C8B-B14F-4D97-AF65-F5344CB8AC3E}">
        <p14:creationId xmlns:p14="http://schemas.microsoft.com/office/powerpoint/2010/main" val="22705722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95B4DDF8-7BA2-A6C2-E528-7923856EDE71}"/>
                  </a:ext>
                </a:extLst>
              </p:cNvPr>
              <p:cNvSpPr>
                <a:spLocks noGrp="1"/>
              </p:cNvSpPr>
              <p:nvPr>
                <p:ph type="title"/>
              </p:nvPr>
            </p:nvSpPr>
            <p:spPr>
              <a:xfrm>
                <a:off x="536049" y="2766218"/>
                <a:ext cx="1444628" cy="1325563"/>
              </a:xfrm>
            </p:spPr>
            <p:txBody>
              <a:bodyPr>
                <a:normAutofit fontScale="90000"/>
              </a:bodyPr>
              <a:lstStyle/>
              <a:p>
                <a:pPr algn="ctr"/>
                <a14:m>
                  <m:oMath xmlns:m="http://schemas.openxmlformats.org/officeDocument/2006/math">
                    <m:r>
                      <a:rPr lang="en-US" i="1">
                        <a:latin typeface="Cambria Math" panose="02040503050406030204" pitchFamily="18" charset="0"/>
                      </a:rPr>
                      <m:t>×25</m:t>
                    </m:r>
                  </m:oMath>
                </a14:m>
                <a:r>
                  <a:rPr lang="en-US" dirty="0"/>
                  <a:t> res </a:t>
                </a:r>
                <a:br>
                  <a:rPr lang="en-US" dirty="0"/>
                </a:br>
                <a:r>
                  <a:rPr lang="en-US" dirty="0"/>
                  <a:t>(1D)</a:t>
                </a:r>
                <a:endParaRPr lang="en-GB" dirty="0"/>
              </a:p>
            </p:txBody>
          </p:sp>
        </mc:Choice>
        <mc:Fallback xmlns="">
          <p:sp>
            <p:nvSpPr>
              <p:cNvPr id="2" name="Title 1">
                <a:extLst>
                  <a:ext uri="{FF2B5EF4-FFF2-40B4-BE49-F238E27FC236}">
                    <a16:creationId xmlns:a16="http://schemas.microsoft.com/office/drawing/2014/main" id="{95B4DDF8-7BA2-A6C2-E528-7923856EDE71}"/>
                  </a:ext>
                </a:extLst>
              </p:cNvPr>
              <p:cNvSpPr>
                <a:spLocks noGrp="1" noRot="1" noChangeAspect="1" noMove="1" noResize="1" noEditPoints="1" noAdjustHandles="1" noChangeArrowheads="1" noChangeShapeType="1" noTextEdit="1"/>
              </p:cNvSpPr>
              <p:nvPr>
                <p:ph type="title"/>
              </p:nvPr>
            </p:nvSpPr>
            <p:spPr>
              <a:xfrm>
                <a:off x="536049" y="2766218"/>
                <a:ext cx="1444628" cy="1325563"/>
              </a:xfrm>
              <a:blipFill>
                <a:blip r:embed="rId2"/>
                <a:stretch>
                  <a:fillRect l="-4641" t="-6912" r="-4641" b="-35484"/>
                </a:stretch>
              </a:blipFill>
            </p:spPr>
            <p:txBody>
              <a:bodyPr/>
              <a:lstStyle/>
              <a:p>
                <a:r>
                  <a:rPr lang="en-GB">
                    <a:noFill/>
                  </a:rPr>
                  <a:t> </a:t>
                </a:r>
              </a:p>
            </p:txBody>
          </p:sp>
        </mc:Fallback>
      </mc:AlternateContent>
      <p:pic>
        <p:nvPicPr>
          <p:cNvPr id="5" name="Content Placeholder 4">
            <a:extLst>
              <a:ext uri="{FF2B5EF4-FFF2-40B4-BE49-F238E27FC236}">
                <a16:creationId xmlns:a16="http://schemas.microsoft.com/office/drawing/2014/main" id="{34994896-2B99-34A0-1AD5-5AFB871B0E5C}"/>
              </a:ext>
            </a:extLst>
          </p:cNvPr>
          <p:cNvPicPr>
            <a:picLocks noGrp="1" noChangeAspect="1"/>
          </p:cNvPicPr>
          <p:nvPr>
            <p:ph idx="1"/>
          </p:nvPr>
        </p:nvPicPr>
        <p:blipFill>
          <a:blip r:embed="rId3"/>
          <a:stretch>
            <a:fillRect/>
          </a:stretch>
        </p:blipFill>
        <p:spPr>
          <a:xfrm>
            <a:off x="1980678" y="108143"/>
            <a:ext cx="5023860" cy="3320857"/>
          </a:xfrm>
          <a:prstGeom prst="rect">
            <a:avLst/>
          </a:prstGeom>
        </p:spPr>
      </p:pic>
      <p:pic>
        <p:nvPicPr>
          <p:cNvPr id="7" name="Picture 6">
            <a:extLst>
              <a:ext uri="{FF2B5EF4-FFF2-40B4-BE49-F238E27FC236}">
                <a16:creationId xmlns:a16="http://schemas.microsoft.com/office/drawing/2014/main" id="{3D0E0185-83B3-A6ED-316E-46D2A67ED9D6}"/>
              </a:ext>
            </a:extLst>
          </p:cNvPr>
          <p:cNvPicPr>
            <a:picLocks noChangeAspect="1"/>
          </p:cNvPicPr>
          <p:nvPr/>
        </p:nvPicPr>
        <p:blipFill>
          <a:blip r:embed="rId4"/>
          <a:stretch>
            <a:fillRect/>
          </a:stretch>
        </p:blipFill>
        <p:spPr>
          <a:xfrm>
            <a:off x="7004538" y="1"/>
            <a:ext cx="5187461" cy="3429000"/>
          </a:xfrm>
          <a:prstGeom prst="rect">
            <a:avLst/>
          </a:prstGeom>
        </p:spPr>
      </p:pic>
      <p:pic>
        <p:nvPicPr>
          <p:cNvPr id="9" name="Picture 8">
            <a:extLst>
              <a:ext uri="{FF2B5EF4-FFF2-40B4-BE49-F238E27FC236}">
                <a16:creationId xmlns:a16="http://schemas.microsoft.com/office/drawing/2014/main" id="{45772E19-B3AE-7C83-6262-03435D4EB7C1}"/>
              </a:ext>
            </a:extLst>
          </p:cNvPr>
          <p:cNvPicPr>
            <a:picLocks noChangeAspect="1"/>
          </p:cNvPicPr>
          <p:nvPr/>
        </p:nvPicPr>
        <p:blipFill>
          <a:blip r:embed="rId5"/>
          <a:stretch>
            <a:fillRect/>
          </a:stretch>
        </p:blipFill>
        <p:spPr>
          <a:xfrm>
            <a:off x="1980678" y="3429000"/>
            <a:ext cx="5187461" cy="3429000"/>
          </a:xfrm>
          <a:prstGeom prst="rect">
            <a:avLst/>
          </a:prstGeom>
        </p:spPr>
      </p:pic>
      <p:pic>
        <p:nvPicPr>
          <p:cNvPr id="11" name="Picture 10">
            <a:extLst>
              <a:ext uri="{FF2B5EF4-FFF2-40B4-BE49-F238E27FC236}">
                <a16:creationId xmlns:a16="http://schemas.microsoft.com/office/drawing/2014/main" id="{23EE36D1-406E-86F9-DEDD-4BD8298A087D}"/>
              </a:ext>
            </a:extLst>
          </p:cNvPr>
          <p:cNvPicPr>
            <a:picLocks noChangeAspect="1"/>
          </p:cNvPicPr>
          <p:nvPr/>
        </p:nvPicPr>
        <p:blipFill>
          <a:blip r:embed="rId6"/>
          <a:stretch>
            <a:fillRect/>
          </a:stretch>
        </p:blipFill>
        <p:spPr>
          <a:xfrm>
            <a:off x="7004537" y="3428999"/>
            <a:ext cx="5187462" cy="3429000"/>
          </a:xfrm>
          <a:prstGeom prst="rect">
            <a:avLst/>
          </a:prstGeom>
        </p:spPr>
      </p:pic>
    </p:spTree>
    <p:extLst>
      <p:ext uri="{BB962C8B-B14F-4D97-AF65-F5344CB8AC3E}">
        <p14:creationId xmlns:p14="http://schemas.microsoft.com/office/powerpoint/2010/main" val="27811730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4E26FF-30E8-4256-6502-93885F5759BB}"/>
              </a:ext>
            </a:extLst>
          </p:cNvPr>
          <p:cNvSpPr>
            <a:spLocks noGrp="1"/>
          </p:cNvSpPr>
          <p:nvPr>
            <p:ph type="title"/>
          </p:nvPr>
        </p:nvSpPr>
        <p:spPr/>
        <p:txBody>
          <a:bodyPr/>
          <a:lstStyle/>
          <a:p>
            <a:r>
              <a:rPr lang="en-GB" dirty="0"/>
              <a:t>Conclusion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90C918A-1DDE-8124-2684-652C7A22AD72}"/>
                  </a:ext>
                </a:extLst>
              </p:cNvPr>
              <p:cNvSpPr>
                <a:spLocks noGrp="1"/>
              </p:cNvSpPr>
              <p:nvPr>
                <p:ph idx="1"/>
              </p:nvPr>
            </p:nvSpPr>
            <p:spPr/>
            <p:txBody>
              <a:bodyPr>
                <a:normAutofit fontScale="92500" lnSpcReduction="10000"/>
              </a:bodyPr>
              <a:lstStyle/>
              <a:p>
                <a:pPr lvl="1"/>
                <a:r>
                  <a:rPr lang="en-GB" dirty="0"/>
                  <a:t>Low L2RE on validation (0.0202) and testing (0.0190) datasets shows proof of concept</a:t>
                </a:r>
              </a:p>
              <a:p>
                <a:pPr lvl="1"/>
                <a:r>
                  <a:rPr lang="en-GB" dirty="0"/>
                  <a:t>Lower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m:t>
                        </m:r>
                      </m:sub>
                    </m:sSub>
                  </m:oMath>
                </a14:m>
                <a:r>
                  <a:rPr lang="en-US" b="0" dirty="0"/>
                  <a:t> values lead to larger deviations from paired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𝑇𝑃</m:t>
                        </m:r>
                      </m:sub>
                    </m:sSub>
                  </m:oMath>
                </a14:m>
                <a:endParaRPr lang="en-US" b="0" dirty="0"/>
              </a:p>
              <a:p>
                <a:pPr lvl="2"/>
                <a:r>
                  <a:rPr lang="en-US" dirty="0" err="1"/>
                  <a:t>PIDONet</a:t>
                </a:r>
                <a:r>
                  <a:rPr lang="en-US" dirty="0"/>
                  <a:t> struggles to accurately predict sharp spatial changes in gravitational correction due to lower mass blackholes </a:t>
                </a:r>
                <a:endParaRPr lang="en-US" b="0" dirty="0"/>
              </a:p>
              <a:p>
                <a:pPr lvl="1"/>
                <a:r>
                  <a:rPr lang="en-US" dirty="0" err="1"/>
                  <a:t>PIDONet</a:t>
                </a:r>
                <a:r>
                  <a:rPr lang="en-US" dirty="0"/>
                  <a:t> able to generate 2D dataset to 2.5 times initial resolution and 1D datasets to 25 times initial resolution to 1% average accuracy</a:t>
                </a:r>
              </a:p>
              <a:p>
                <a:pPr lvl="1"/>
                <a:endParaRPr lang="en-GB" b="0" dirty="0"/>
              </a:p>
              <a:p>
                <a:pPr marL="0" indent="0">
                  <a:buNone/>
                </a:pPr>
                <a:r>
                  <a:rPr lang="en-GB" dirty="0"/>
                  <a:t>Next steps:</a:t>
                </a:r>
                <a:endParaRPr lang="en-US" dirty="0"/>
              </a:p>
              <a:p>
                <a:pPr lvl="1"/>
                <a:r>
                  <a:rPr lang="en-US" dirty="0"/>
                  <a:t>Increase the density of collocation points near individual punctures instead of </a:t>
                </a:r>
                <a14:m>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&lt;10</m:t>
                    </m:r>
                  </m:oMath>
                </a14:m>
                <a:endParaRPr lang="en-US" b="0" dirty="0"/>
              </a:p>
              <a:p>
                <a:pPr lvl="1"/>
                <a:r>
                  <a:rPr lang="en-US" b="0" dirty="0"/>
                  <a:t>Explore </a:t>
                </a:r>
                <a:r>
                  <a:rPr lang="en-US" b="0" dirty="0" err="1"/>
                  <a:t>PIDONet’s</a:t>
                </a:r>
                <a:r>
                  <a:rPr lang="en-US" b="0" dirty="0"/>
                  <a:t> abi</a:t>
                </a:r>
                <a:r>
                  <a:rPr lang="en-US" dirty="0"/>
                  <a:t>lity to predict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𝜃</m:t>
                        </m:r>
                      </m:sub>
                    </m:sSub>
                  </m:oMath>
                </a14:m>
                <a:r>
                  <a:rPr lang="en-US" b="0" dirty="0"/>
                  <a:t> for different puncture locations, positions, and momenta</a:t>
                </a:r>
              </a:p>
              <a:p>
                <a:pPr lvl="1"/>
                <a:r>
                  <a:rPr lang="en-US" b="0" dirty="0"/>
                  <a:t>Extend the branch net to take into account spinning BBH systems</a:t>
                </a:r>
              </a:p>
              <a:p>
                <a:pPr lvl="1"/>
                <a:endParaRPr lang="en-US" b="0" dirty="0"/>
              </a:p>
              <a:p>
                <a:pPr lvl="1"/>
                <a:endParaRPr lang="en-US" b="0" dirty="0"/>
              </a:p>
              <a:p>
                <a:pPr lvl="1"/>
                <a:endParaRPr lang="en-GB" dirty="0"/>
              </a:p>
            </p:txBody>
          </p:sp>
        </mc:Choice>
        <mc:Fallback xmlns="">
          <p:sp>
            <p:nvSpPr>
              <p:cNvPr id="3" name="Content Placeholder 2">
                <a:extLst>
                  <a:ext uri="{FF2B5EF4-FFF2-40B4-BE49-F238E27FC236}">
                    <a16:creationId xmlns:a16="http://schemas.microsoft.com/office/drawing/2014/main" id="{790C918A-1DDE-8124-2684-652C7A22AD72}"/>
                  </a:ext>
                </a:extLst>
              </p:cNvPr>
              <p:cNvSpPr>
                <a:spLocks noGrp="1" noRot="1" noChangeAspect="1" noMove="1" noResize="1" noEditPoints="1" noAdjustHandles="1" noChangeArrowheads="1" noChangeShapeType="1" noTextEdit="1"/>
              </p:cNvSpPr>
              <p:nvPr>
                <p:ph idx="1"/>
              </p:nvPr>
            </p:nvSpPr>
            <p:spPr>
              <a:blipFill>
                <a:blip r:embed="rId2"/>
                <a:stretch>
                  <a:fillRect l="-1043" t="-2381" r="-1101"/>
                </a:stretch>
              </a:blipFill>
            </p:spPr>
            <p:txBody>
              <a:bodyPr/>
              <a:lstStyle/>
              <a:p>
                <a:r>
                  <a:rPr lang="en-GB">
                    <a:noFill/>
                  </a:rPr>
                  <a:t> </a:t>
                </a:r>
              </a:p>
            </p:txBody>
          </p:sp>
        </mc:Fallback>
      </mc:AlternateContent>
    </p:spTree>
    <p:extLst>
      <p:ext uri="{BB962C8B-B14F-4D97-AF65-F5344CB8AC3E}">
        <p14:creationId xmlns:p14="http://schemas.microsoft.com/office/powerpoint/2010/main" val="1868547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FEEFD-5153-49AC-BA0C-139C2E3CF1CE}"/>
              </a:ext>
            </a:extLst>
          </p:cNvPr>
          <p:cNvSpPr>
            <a:spLocks noGrp="1"/>
          </p:cNvSpPr>
          <p:nvPr>
            <p:ph type="ctrTitle"/>
          </p:nvPr>
        </p:nvSpPr>
        <p:spPr/>
        <p:txBody>
          <a:bodyPr/>
          <a:lstStyle/>
          <a:p>
            <a:r>
              <a:rPr lang="en-GB" dirty="0"/>
              <a:t>Thank you for listening</a:t>
            </a:r>
          </a:p>
        </p:txBody>
      </p:sp>
      <p:sp>
        <p:nvSpPr>
          <p:cNvPr id="3" name="Subtitle 2">
            <a:extLst>
              <a:ext uri="{FF2B5EF4-FFF2-40B4-BE49-F238E27FC236}">
                <a16:creationId xmlns:a16="http://schemas.microsoft.com/office/drawing/2014/main" id="{3DA39296-081A-2DFB-C93B-FF736192873D}"/>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27676038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793</TotalTime>
  <Words>1179</Words>
  <Application>Microsoft Office PowerPoint</Application>
  <PresentationFormat>Widescreen</PresentationFormat>
  <Paragraphs>247</Paragraphs>
  <Slides>22</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Aptos</vt:lpstr>
      <vt:lpstr>Arial</vt:lpstr>
      <vt:lpstr>Cambria Math</vt:lpstr>
      <vt:lpstr>Times New Roman</vt:lpstr>
      <vt:lpstr>Office Theme</vt:lpstr>
      <vt:lpstr>Generate BBH Initial Data Using Physics Informed DeepONet (PIDONet)</vt:lpstr>
      <vt:lpstr>Issues with Physics Informed FNO</vt:lpstr>
      <vt:lpstr>Theory</vt:lpstr>
      <vt:lpstr>PowerPoint Presentation</vt:lpstr>
      <vt:lpstr>Loss function</vt:lpstr>
      <vt:lpstr>Exponential Moving Average (EMA) method</vt:lpstr>
      <vt:lpstr> Paper Results</vt:lpstr>
      <vt:lpstr>First attempt</vt:lpstr>
      <vt:lpstr>Ansatz</vt:lpstr>
      <vt:lpstr>Second attempt</vt:lpstr>
      <vt:lpstr>In XY-plane</vt:lpstr>
      <vt:lpstr>DeepONet Recap</vt:lpstr>
      <vt:lpstr>Physics Informed DeepONet (PIDONet)</vt:lpstr>
      <vt:lpstr>Project Plan</vt:lpstr>
      <vt:lpstr>Operator Training Architecture</vt:lpstr>
      <vt:lpstr>Loss function </vt:lpstr>
      <vt:lpstr>Results </vt:lpstr>
      <vt:lpstr>Loss graphs</vt:lpstr>
      <vt:lpstr>×2.5 resolution (2D)</vt:lpstr>
      <vt:lpstr>×25 res  (1D)</vt:lpstr>
      <vt:lpstr>Conclusion</vt:lpstr>
      <vt:lpstr>Thank you for listening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Wu, Hilary H M</dc:creator>
  <cp:lastModifiedBy>Wu, Hilary H M</cp:lastModifiedBy>
  <cp:revision>9</cp:revision>
  <dcterms:created xsi:type="dcterms:W3CDTF">2026-07-21T07:28:08Z</dcterms:created>
  <dcterms:modified xsi:type="dcterms:W3CDTF">2026-07-31T03:12:28Z</dcterms:modified>
</cp:coreProperties>
</file>