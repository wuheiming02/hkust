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  <p:sldId id="264" r:id="rId10"/>
    <p:sldId id="265" r:id="rId11"/>
    <p:sldId id="267" r:id="rId12"/>
    <p:sldId id="268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45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D01B-2E01-0A4F-57AC-AA0C37629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BDED8-E6C9-9E08-1294-BEDFB99C1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61421-87A9-F59D-EB89-EF972E39A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90B20-1BB1-4E25-89AB-6910053B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72493-53AE-3586-DBF2-40403DFD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38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5C8D-1048-74F7-7F06-5E51EC35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EFE58-D5C4-5BDD-8304-824FE10D9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40E89-A5CA-0B8A-4807-ACD5096F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48E41-B66A-DF8F-7BA0-6F96FCF5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F50E3-721A-1488-B550-8E738E3F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18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5FF6-364F-3CAB-C483-40BEC7EE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04957-78F6-36C1-FED2-B495196A6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65845-4EDE-E4B3-79E0-F3FA99A2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37CBB-EE69-747A-DBA2-18F40982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6058B-C356-4EF2-93C3-66542E22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52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D6C1-3DC4-D0A1-99B3-72CAED27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2BA3-4BB5-8A50-A5E6-4B3B4BED4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D21CD-DB41-D919-D5A7-92EC199A4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65908-D51A-1948-A4B6-CEF4BCDCA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D6EE0-6937-9DF4-4997-5A39CCB3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6B27D-21FD-0CCC-A0DD-7412DD7E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174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E7EC-05E4-DB8E-A4A6-B25BFE86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3A191-509C-B23C-C894-970F3F52C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E9C04-B56A-25FB-B002-748A29100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CD8172-F580-16C4-D1A7-81FE18F3A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EA933-50B4-7D1A-213B-17CDEF197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7E13C4-CB16-C816-76D7-399E5786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F9181-E4EC-5924-B479-B1E861C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BEF9AA-3B29-FFD2-0119-3B7CEC58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43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B259-7EC7-AB3E-F3BE-849D6634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07134-AF7C-AA46-D499-8EB258D0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35CAF-AFEC-F512-5751-A59D11B5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D715D-FA5B-753E-263C-1139E7C4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250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08ECD-1834-9004-E259-7448E001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A5FE7-3C0F-7D9D-03D9-0E7FA589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3804F-0313-AD02-EEED-77540B31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73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F637-8510-7A3A-EB7E-572A3DDE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2F650-DB82-2190-AF1B-165730C83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B51EE-AA0C-4F1B-33AA-B56F033C6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053D2-AF6D-34C0-9669-583DF36D1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F449F-06E0-F732-7BE3-1D289DEF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4FE57-0019-5733-26D2-6D89A73F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22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D0BA-7E67-F9D3-8D1A-B4F63EF1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3D3AA-E147-F3C2-4A14-DE3FB01778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87A3-64DB-7946-61C1-07ACFB331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755FB-2571-63D0-CDF7-E896152F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2EE7F-DE33-D6BF-E6B9-D06B34BC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3544A-6147-72D2-EED3-43017628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24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A5C8-5390-9A6D-E495-7443EAC9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B2672-F6AA-DF7D-3B42-1A18F4A2C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95414-C55B-B261-5E82-C0B850C2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9F091-0AFD-4719-D7B3-AE4D9E33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F4C7C-CD2B-4AA5-9B6A-5C017DD48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70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C757F1-3551-1B50-DA1C-4C678E6C9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6E8E7-78AF-1AC0-3102-4F4101829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063D-7E77-0D07-D2B8-4363C1F1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50ED6-5692-7CDC-4EF8-47840EADD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51BAF-0C54-00EB-55F6-180F5B63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28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75180C-DC83-FC05-19B2-5BAB708B5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05F3B-ED33-3C6A-3F3F-9DF7EFD64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7F182-AF9B-2B22-1515-293DF9A23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2C91B-C10F-455D-BCC4-2D03018C3AD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C3503-A955-5B8D-46E7-0758A3345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10E8D-D513-0209-9017-2751D07E1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55937-3045-445C-A7A2-AB0616A52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54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3/619s-p6m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E8368-FCDC-A212-5920-2C066D582E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Project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540EC-C696-335C-9467-B173DDCE6E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Hilary Wu</a:t>
            </a:r>
          </a:p>
          <a:p>
            <a:endParaRPr lang="en-GB" dirty="0"/>
          </a:p>
          <a:p>
            <a:r>
              <a:rPr lang="en-GB" dirty="0"/>
              <a:t>Y.-C. Zhou </a:t>
            </a:r>
            <a:r>
              <a:rPr lang="en-GB" i="1" dirty="0"/>
              <a:t>et al.</a:t>
            </a:r>
            <a:r>
              <a:rPr lang="en-GB" dirty="0"/>
              <a:t>, “Solving Hamiltonian Constraint Equation with Physics-Informed Neural Networks,” </a:t>
            </a:r>
            <a:r>
              <a:rPr lang="en-GB" i="1" dirty="0"/>
              <a:t>Phys. Rev. D</a:t>
            </a:r>
            <a:r>
              <a:rPr lang="en-GB" dirty="0"/>
              <a:t>, Jun. 2026,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dirty="0">
                <a:hlinkClick r:id="rId2"/>
              </a:rPr>
              <a:t>10.1103/619s-p6md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8650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5C17-B7FB-C88D-9872-395A86E8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CEAFD-F254-5C1B-1AAA-AE42879A6A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Einstein’ Field Equations: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Hamiltonian Constraint Equation: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Δu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CEAFD-F254-5C1B-1AAA-AE42879A6A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75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5">
            <a:extLst>
              <a:ext uri="{FF2B5EF4-FFF2-40B4-BE49-F238E27FC236}">
                <a16:creationId xmlns:a16="http://schemas.microsoft.com/office/drawing/2014/main" id="{554EE638-E6B3-7C24-69CB-6B85927E0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20" b="-1"/>
          <a:stretch>
            <a:fillRect/>
          </a:stretch>
        </p:blipFill>
        <p:spPr>
          <a:xfrm>
            <a:off x="3497109" y="82414"/>
            <a:ext cx="5197781" cy="669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8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913C-495F-FBE7-3118-4FD44431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105865-72B0-7026-5848-AD934C2A4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soft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𝑟𝑜𝑏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−11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soft-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105865-72B0-7026-5848-AD934C2A4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99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F84E-BE1B-B59F-C328-C0E7F939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Exponential Moving Average (EMA)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852CE-BB42-63E7-1A4A-891F79F8BF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soft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, chosen to be 0.99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˜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852CE-BB42-63E7-1A4A-891F79F8B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2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0A49-9E36-7E1A-9381-06E90214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Paper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45DF0-1D0B-FFE2-7087-190397A10E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12B28-7A2C-A0AD-FE30-A17B895254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9844D93-AF0E-828D-3200-D318EF16C1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=0.0172±0.0040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9844D93-AF0E-828D-3200-D318EF16C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5181600" cy="435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CE8B227F-10DE-3EC5-9FE8-3C2C3520F4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72200" y="1825625"/>
                <a:ext cx="5181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=0.0077±0.0007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CE8B227F-10DE-3EC5-9FE8-3C2C3520F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825625"/>
                <a:ext cx="5181600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05BD518-51ED-62B3-0499-EB3C1986F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995" y="1688194"/>
            <a:ext cx="5326294" cy="3150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D27F1C-9BC8-688C-DBF8-62FA7B1048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05" y="1690688"/>
            <a:ext cx="5296795" cy="31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9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6A12-602A-E971-1707-64998777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attempt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67D706-1232-834E-7FF8-D2005DDDE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311" y="1825625"/>
            <a:ext cx="68133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95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F3AF-A74F-D4EB-23BA-9199EC290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Ansatz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1E21B-30CA-B983-6E55-068C526966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𝑐𝑊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+132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+53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+96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+82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84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ℛ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ℛ</m:t>
                          </m:r>
                        </m:den>
                      </m:f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ℛ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Taylor expand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&lt;0.1</m:t>
                    </m:r>
                  </m:oMath>
                </a14:m>
                <a:r>
                  <a:rPr lang="en-US" b="0" dirty="0"/>
                  <a:t> to sidestep zero-error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1E21B-30CA-B983-6E55-068C52696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97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E983-A2AD-ED4F-EF4F-8FB6E567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Second attempt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35E2-703B-7A5A-3AD6-EC0AAB797A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=0.028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35E2-703B-7A5A-3AD6-EC0AAB797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D7EA526-0397-931F-4037-D46B3DE9B98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=0.048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D7EA526-0397-931F-4037-D46B3DE9B9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11265F9-5214-659F-A69F-D2D2B139E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87" y="1690688"/>
            <a:ext cx="5568813" cy="36810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2F58F1-5A2E-3A0C-AA21-63BE67AAF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9" y="1690687"/>
            <a:ext cx="5568813" cy="368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6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FF6E-7A2D-8ABB-5C49-7CE76CC9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XY-plane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227DE76-61D3-4CE4-F098-99F61556AC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40768"/>
            <a:ext cx="5181600" cy="432105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7EBA6C-1087-087E-6A35-6A3AE5C60C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26896" y="1825625"/>
            <a:ext cx="48722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0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20CF-449A-D447-8A58-32D815C9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110B0-EA5E-382C-F231-40DA1ADB0D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Train PINO to generate initial data for BBH systems</a:t>
                </a:r>
              </a:p>
              <a:p>
                <a:pPr lvl="1"/>
                <a:r>
                  <a:rPr lang="en-GB" dirty="0"/>
                  <a:t>~ 22 million datapoints from </a:t>
                </a:r>
                <a:r>
                  <a:rPr lang="en-GB" dirty="0" err="1"/>
                  <a:t>TwoPunctures</a:t>
                </a:r>
                <a:endParaRPr lang="en-GB" dirty="0"/>
              </a:p>
              <a:p>
                <a:pPr lvl="1"/>
                <a:r>
                  <a:rPr lang="en-GB" dirty="0"/>
                  <a:t>100000 inner points restricted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GB" dirty="0"/>
                  <a:t>40000 boundary points</a:t>
                </a:r>
              </a:p>
              <a:p>
                <a:pPr lvl="1"/>
                <a:r>
                  <a:rPr lang="en-US" dirty="0"/>
                  <a:t>Datapoints and collocation points sampled uniform across 5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 values</a:t>
                </a:r>
              </a:p>
              <a:p>
                <a:pPr marL="457200" lvl="1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PINO 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Ansatz 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110B0-EA5E-382C-F231-40DA1ADB0D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88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206E-6D4F-4F15-AE8E-A233352C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 training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31DB8-7F11-457D-1153-470F93F91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FNO architecture:</a:t>
            </a:r>
          </a:p>
          <a:p>
            <a:pPr lvl="1"/>
            <a:r>
              <a:rPr lang="en-GB" dirty="0"/>
              <a:t>width = 64</a:t>
            </a:r>
          </a:p>
          <a:p>
            <a:pPr lvl="1"/>
            <a:r>
              <a:rPr lang="en-GB" dirty="0"/>
              <a:t>24 modes</a:t>
            </a:r>
          </a:p>
          <a:p>
            <a:pPr lvl="1"/>
            <a:r>
              <a:rPr lang="en-GB" dirty="0"/>
              <a:t>8 layers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Adam optimizer, </a:t>
            </a:r>
            <a:r>
              <a:rPr lang="en-GB" dirty="0" err="1"/>
              <a:t>lr</a:t>
            </a:r>
            <a:r>
              <a:rPr lang="en-GB" dirty="0"/>
              <a:t> = 1e-4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Train for 5000 epochs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48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DAD6-0BAE-3134-9E4A-E80F2561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Loss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0F79-2915-7D91-89A3-643D2FC7B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L2 error on datapoints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L2 error on interior points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soft-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b="0" dirty="0"/>
                  <a:t> error on interior points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L2 error on boundary points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Losses rescaled using EMA method</a:t>
                </a: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Halt training if no improvement on validation data L2RE</a:t>
                </a: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BC0F79-2915-7D91-89A3-643D2FC7B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46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EEFD-5153-49AC-BA0C-139C2E3CF1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 for listening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39296-081A-2DFB-C93B-FF73619287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60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300</Words>
  <Application>Microsoft Office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Cambria Math</vt:lpstr>
      <vt:lpstr>Times New Roman</vt:lpstr>
      <vt:lpstr>Office Theme</vt:lpstr>
      <vt:lpstr>Project Update</vt:lpstr>
      <vt:lpstr>Theory</vt:lpstr>
      <vt:lpstr>PowerPoint Presentation</vt:lpstr>
      <vt:lpstr>Loss function</vt:lpstr>
      <vt:lpstr>Exponential Moving Average (EMA) method</vt:lpstr>
      <vt:lpstr> Paper Results</vt:lpstr>
      <vt:lpstr>First attempt</vt:lpstr>
      <vt:lpstr>Ansatz</vt:lpstr>
      <vt:lpstr>Second attempt</vt:lpstr>
      <vt:lpstr>In XY-plane</vt:lpstr>
      <vt:lpstr>Next steps</vt:lpstr>
      <vt:lpstr>Operator training architecture</vt:lpstr>
      <vt:lpstr>Loss function 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Hilary H M</dc:creator>
  <cp:lastModifiedBy>Wu, Hilary H M</cp:lastModifiedBy>
  <cp:revision>5</cp:revision>
  <dcterms:created xsi:type="dcterms:W3CDTF">2026-07-21T07:28:08Z</dcterms:created>
  <dcterms:modified xsi:type="dcterms:W3CDTF">2026-07-23T09:28:29Z</dcterms:modified>
</cp:coreProperties>
</file>