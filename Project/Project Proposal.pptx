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1" r:id="rId9"/>
    <p:sldId id="262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140AB-7272-C664-2BC2-9737B8FE9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46FE72-BF0D-DD28-BF14-EF4FBDC05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156AE-BBA9-A09F-F64A-E685CD50A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F0C-896D-4C02-B7B1-45AD137FC78F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5B35C-3F8A-81EC-C319-7050D436B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FF753-3A56-2A83-5FF9-642A0545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57A7-AFB4-4658-A612-0496A42AD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30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6F823-8F5D-A1E2-28F8-6CD787B40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D68F3-4A86-0B29-6A3E-C4ED2250C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3231F-7895-82E8-6F74-DC89E6A28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F0C-896D-4C02-B7B1-45AD137FC78F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5D0D5-014C-2EC9-DB50-C62B66DF7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6CE4D-53B3-B87E-B9A9-243C0092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57A7-AFB4-4658-A612-0496A42AD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9742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9F94E-13C9-240F-7109-D87FDBD3E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895F7-E0E8-A3EA-C482-8B5954036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0A080-25B1-27D8-D813-C0C1F61FE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F0C-896D-4C02-B7B1-45AD137FC78F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A6EE4-AA80-D319-0DC2-4E2F86F18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192C2-DED3-F401-7D4F-9A598B025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57A7-AFB4-4658-A612-0496A42AD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891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DFC43-BDC7-90A8-0554-43ED78DF1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5B4F9-41DC-AE38-B660-08A99440E4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E818B-62BD-3262-9401-E627959F8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3FFC8-CF89-A228-F0FB-078B3891F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F0C-896D-4C02-B7B1-45AD137FC78F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75929-8107-157D-985D-69B157D6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342C3-D38B-B263-C9FE-1FFAC1F6B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57A7-AFB4-4658-A612-0496A42AD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315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D8964-56DF-82E5-B281-DFBB0F585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9A43D-5C98-147C-907B-D3B28895D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1EB54-F7F1-3287-19EA-D0FCF57E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91130-D0BA-94A4-3EA6-95744AB737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F02848-5680-7752-C518-0E33F636C7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703A68-ABB7-4517-9772-42D299117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F0C-896D-4C02-B7B1-45AD137FC78F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E097AD-EB40-F9A4-3B0A-2042DB4BF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F3CB28-CB47-54E2-76AC-426D1C3F9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57A7-AFB4-4658-A612-0496A42AD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759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6A078-8DFB-7FE1-BCDC-948077B14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012244-795E-843C-8E71-82A36BA0F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F0C-896D-4C02-B7B1-45AD137FC78F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029CE-80AB-148D-247F-82B38DA74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23033-4D28-9EE9-09ED-912156D4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57A7-AFB4-4658-A612-0496A42AD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822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F9F90C-16E3-1529-5C15-93DC47207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F0C-896D-4C02-B7B1-45AD137FC78F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B32A83-D5B9-F418-7900-386A31DE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EF7C2-3630-EBAF-72AF-17EE56CE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57A7-AFB4-4658-A612-0496A42AD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812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8D764-A089-9CC7-5B43-2585F85A6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E1236-DA55-1954-1692-B4463D10A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0B8FE-8B26-40A3-9625-82DEA3EF6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300E6-7309-77D0-622D-8F276F7F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F0C-896D-4C02-B7B1-45AD137FC78F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08452-5509-B399-FE0F-44646AEF8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DAF91-2457-E73E-6B01-6BD6869D3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57A7-AFB4-4658-A612-0496A42AD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29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55717-6BE7-C0F7-A729-02BA5AB4B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543499-4281-2845-3AF0-0DBDB2F90B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F110C-7293-3321-311E-60B455D1D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D5535-B42D-B064-DB9C-E89FB3645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F0C-896D-4C02-B7B1-45AD137FC78F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92C74-27F8-442E-E4E3-EA45126BC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7CEE4-CEC0-D0C8-518C-7545BB75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57A7-AFB4-4658-A612-0496A42AD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760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E0B99-36ED-B6F7-A82B-49162253E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D760C-7CAA-F049-4326-1ADEEDD1D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33D6-C4A1-B419-1CA9-28C1F1D03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F0C-896D-4C02-B7B1-45AD137FC78F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FD5CF-AFBE-6BE0-4875-B6DFEC44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197DC-B7D7-33CA-4A85-C87797D7C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57A7-AFB4-4658-A612-0496A42AD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293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F527E3-D488-7408-AB4F-381C421C6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8B3CD1-F5F9-7B1F-677E-0472C7000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1BBBB-13AD-C391-B282-B40A1A089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F0C-896D-4C02-B7B1-45AD137FC78F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D9E16-E826-D2DA-C9AF-8EBE90868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A45E7-FDC8-1D74-4614-7C0441682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57A7-AFB4-4658-A612-0496A42AD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647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F99C73-2A03-961D-89EB-FCB31C90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43540-1AB4-9DE2-646A-EBCF94B30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4BB2F-72F2-340E-9076-012029D8A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671F0C-896D-4C02-B7B1-45AD137FC78F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88E97-9A2A-10B0-A401-B0B26E3C3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8E4EF-9215-1324-5EC3-A23F34EDA7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C57A7-AFB4-4658-A612-0496A42ADA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4794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111.03794" TargetMode="External"/><Relationship Id="rId2" Type="http://schemas.openxmlformats.org/officeDocument/2006/relationships/hyperlink" Target="https://doi.org/10.1103/619s-p6md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i.org/10.12942/lrr-2000-5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0956C-7088-0394-DA86-B69FC64AFF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Solving Hamiltonian Constraint Equation with Physics Informed Neural Operators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4CBC36-BBDE-BA89-E76C-16A7FB3FA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239204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Hilary Wu</a:t>
            </a:r>
          </a:p>
          <a:p>
            <a:endParaRPr lang="en-GB" dirty="0"/>
          </a:p>
          <a:p>
            <a:pPr algn="l"/>
            <a:r>
              <a:rPr lang="en-GB" dirty="0">
                <a:effectLst/>
              </a:rPr>
              <a:t>Y.-C. Zhou </a:t>
            </a:r>
            <a:r>
              <a:rPr lang="en-GB" i="1" dirty="0">
                <a:effectLst/>
              </a:rPr>
              <a:t>et al.</a:t>
            </a:r>
            <a:r>
              <a:rPr lang="en-GB" dirty="0">
                <a:effectLst/>
              </a:rPr>
              <a:t>, “Solving Hamiltonian Constraint Equation with Physics-Informed Neural Networks,” </a:t>
            </a:r>
            <a:r>
              <a:rPr lang="en-GB" i="1" dirty="0">
                <a:effectLst/>
              </a:rPr>
              <a:t>Phys. Rev. D</a:t>
            </a:r>
            <a:r>
              <a:rPr lang="en-GB" dirty="0">
                <a:effectLst/>
              </a:rPr>
              <a:t>, Jun. 2026, </a:t>
            </a:r>
            <a:r>
              <a:rPr lang="en-GB" dirty="0" err="1">
                <a:effectLst/>
              </a:rPr>
              <a:t>doi</a:t>
            </a:r>
            <a:r>
              <a:rPr lang="en-GB" dirty="0">
                <a:effectLst/>
              </a:rPr>
              <a:t>: </a:t>
            </a:r>
            <a:r>
              <a:rPr lang="en-GB" dirty="0">
                <a:effectLst/>
                <a:hlinkClick r:id="rId2"/>
              </a:rPr>
              <a:t>10.1103/619s-p6md</a:t>
            </a:r>
            <a:r>
              <a:rPr lang="en-GB" dirty="0">
                <a:effectLst/>
              </a:rPr>
              <a:t>.</a:t>
            </a:r>
          </a:p>
          <a:p>
            <a:pPr algn="l"/>
            <a:r>
              <a:rPr lang="en-GB" dirty="0">
                <a:effectLst/>
              </a:rPr>
              <a:t>Z. Li </a:t>
            </a:r>
            <a:r>
              <a:rPr lang="en-GB" i="1" dirty="0">
                <a:effectLst/>
              </a:rPr>
              <a:t>et al.</a:t>
            </a:r>
            <a:r>
              <a:rPr lang="en-GB" dirty="0">
                <a:effectLst/>
              </a:rPr>
              <a:t>, “Physics-Informed Neural Operator for Learning Partial Differential Equations,” Jul. 29, 2023, </a:t>
            </a:r>
            <a:r>
              <a:rPr lang="en-GB" i="1" dirty="0" err="1">
                <a:effectLst/>
              </a:rPr>
              <a:t>arXiv</a:t>
            </a:r>
            <a:r>
              <a:rPr lang="en-GB" dirty="0">
                <a:effectLst/>
              </a:rPr>
              <a:t>: arXiv:2111.03794. </a:t>
            </a:r>
            <a:r>
              <a:rPr lang="en-GB" dirty="0" err="1">
                <a:effectLst/>
              </a:rPr>
              <a:t>doi</a:t>
            </a:r>
            <a:r>
              <a:rPr lang="en-GB" dirty="0">
                <a:effectLst/>
              </a:rPr>
              <a:t>: </a:t>
            </a:r>
            <a:r>
              <a:rPr lang="en-GB" dirty="0">
                <a:effectLst/>
                <a:hlinkClick r:id="rId3"/>
              </a:rPr>
              <a:t>10.48550/arXiv.2111.03794</a:t>
            </a:r>
            <a:r>
              <a:rPr lang="en-GB" dirty="0">
                <a:effectLst/>
              </a:rPr>
              <a:t>.</a:t>
            </a:r>
          </a:p>
          <a:p>
            <a:pPr algn="l"/>
            <a:r>
              <a:rPr lang="en-GB" dirty="0">
                <a:effectLst/>
              </a:rPr>
              <a:t>G. B. Cook, “Initial Data for Numerical Relativity,” </a:t>
            </a:r>
            <a:r>
              <a:rPr lang="en-GB" i="1" dirty="0">
                <a:effectLst/>
              </a:rPr>
              <a:t>Living Rev. </a:t>
            </a:r>
            <a:r>
              <a:rPr lang="en-GB" i="1" dirty="0" err="1">
                <a:effectLst/>
              </a:rPr>
              <a:t>Relativ</a:t>
            </a:r>
            <a:r>
              <a:rPr lang="en-GB" i="1" dirty="0">
                <a:effectLst/>
              </a:rPr>
              <a:t>.</a:t>
            </a:r>
            <a:r>
              <a:rPr lang="en-GB" dirty="0">
                <a:effectLst/>
              </a:rPr>
              <a:t>, vol. 3, no. 1, p. 5, Dec. 2000, </a:t>
            </a:r>
            <a:r>
              <a:rPr lang="en-GB" dirty="0" err="1">
                <a:effectLst/>
              </a:rPr>
              <a:t>doi</a:t>
            </a:r>
            <a:r>
              <a:rPr lang="en-GB" dirty="0">
                <a:effectLst/>
              </a:rPr>
              <a:t>: </a:t>
            </a:r>
            <a:r>
              <a:rPr lang="en-GB" dirty="0">
                <a:effectLst/>
                <a:hlinkClick r:id="rId4"/>
              </a:rPr>
              <a:t>10.12942/lrr-2000-5</a:t>
            </a:r>
            <a:r>
              <a:rPr lang="en-GB" dirty="0">
                <a:effectLst/>
              </a:rPr>
              <a:t>.</a:t>
            </a:r>
          </a:p>
          <a:p>
            <a:pPr algn="l"/>
            <a:endParaRPr lang="en-GB" dirty="0">
              <a:effectLst/>
            </a:endParaRPr>
          </a:p>
          <a:p>
            <a:pPr algn="l"/>
            <a:endParaRPr lang="en-GB" dirty="0">
              <a:effectLst/>
            </a:endParaRPr>
          </a:p>
          <a:p>
            <a:endParaRPr lang="en-GB" dirty="0">
              <a:effectLst/>
            </a:endParaRP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916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6F0FB-1D3C-410E-8F64-5BC043338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C3244-0D9F-EE44-E18B-38E5D008A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Processing of gravitational wave data detected on Earth requires accurate snapshot of initial gravitational field data</a:t>
            </a:r>
          </a:p>
          <a:p>
            <a:endParaRPr lang="en-GB" dirty="0"/>
          </a:p>
          <a:p>
            <a:r>
              <a:rPr lang="en-GB" dirty="0"/>
              <a:t>Focusing on non-spinning binary </a:t>
            </a:r>
            <a:r>
              <a:rPr lang="en-GB" dirty="0" err="1"/>
              <a:t>blackhole</a:t>
            </a:r>
            <a:r>
              <a:rPr lang="en-GB" dirty="0"/>
              <a:t> (BBH) systems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Traditional numerical relativity (NR) techniques to examine compact binary object coalescence (CBC) are computationally expensive</a:t>
            </a:r>
          </a:p>
          <a:p>
            <a:pPr lvl="1"/>
            <a:r>
              <a:rPr lang="en-GB" dirty="0"/>
              <a:t>ML methods can be more computationally efficient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228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77AE8-4EA6-9EF9-7A6F-4DF1B54BF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Theory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78C28-6882-C34A-1CC4-1DD163A4DC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2086" y="1854653"/>
                <a:ext cx="10515600" cy="44529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Gravitational wave evolution governed by Einstein’s field equations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𝜇𝜈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𝜇𝜈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lvl="1"/>
                <a:r>
                  <a:rPr lang="en-US" dirty="0"/>
                  <a:t>6 evolution equations</a:t>
                </a:r>
              </a:p>
              <a:p>
                <a:pPr lvl="1"/>
                <a:r>
                  <a:rPr lang="en-US" b="0" dirty="0"/>
                  <a:t>4 constraint equations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Constraint equations can be reformulated</a:t>
                </a:r>
              </a:p>
              <a:p>
                <a:pPr lvl="1"/>
                <a:r>
                  <a:rPr lang="en-US" dirty="0"/>
                  <a:t>Hamiltonian constraint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Momentum constraint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𝛻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78C28-6882-C34A-1CC4-1DD163A4DC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2086" y="1854653"/>
                <a:ext cx="10515600" cy="4452938"/>
              </a:xfrm>
              <a:blipFill>
                <a:blip r:embed="rId2"/>
                <a:stretch>
                  <a:fillRect l="-1159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7563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8FDAC-E4E9-827A-8CAE-41ADF85BD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Theory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3B76F0-AF53-DF43-2AEF-5316FFE4A7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6311"/>
                <a:ext cx="10515600" cy="4670652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Lichnerowicz-York Conformal Method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GB" dirty="0"/>
                  <a:t>Decomposing conformal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=1+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Δu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/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3B76F0-AF53-DF43-2AEF-5316FFE4A7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6311"/>
                <a:ext cx="10515600" cy="4670652"/>
              </a:xfrm>
              <a:blipFill>
                <a:blip r:embed="rId2"/>
                <a:stretch>
                  <a:fillRect l="-754" t="-2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841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CF56DD-E357-8D6C-4831-1F022B4D0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464458"/>
            <a:ext cx="5334197" cy="12510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Zhou et. al (PINN)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EF0BE5E3-EC06-8D82-6F5B-3EFBF78BB46A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761800" y="1468761"/>
                <a:ext cx="5334197" cy="4771319"/>
              </a:xfrm>
            </p:spPr>
            <p:txBody>
              <a:bodyPr vert="horz" lIns="91440" tIns="45720" rIns="91440" bIns="45720" rtlCol="0" anchor="ctr">
                <a:normAutofit fontScale="92500" lnSpcReduction="10000"/>
              </a:bodyPr>
              <a:lstStyle/>
              <a:p>
                <a:endParaRPr lang="en-US" sz="2000" b="0" dirty="0">
                  <a:cs typeface="+mn-cs"/>
                </a:endParaRPr>
              </a:p>
              <a:p>
                <a:r>
                  <a:rPr lang="en-US" sz="2000" dirty="0">
                    <a:cs typeface="+mn-cs"/>
                  </a:rPr>
                  <a:t>MLP architecture: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cs typeface="+mn-cs"/>
                  </a:rPr>
                  <a:t>3 hidden layers (64 neurons each)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800" dirty="0" err="1">
                    <a:cs typeface="+mn-cs"/>
                  </a:rPr>
                  <a:t>SiLU</a:t>
                </a:r>
                <a:r>
                  <a:rPr lang="en-US" sz="1800" dirty="0">
                    <a:cs typeface="+mn-cs"/>
                  </a:rPr>
                  <a:t> activation function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cs typeface="+mn-cs"/>
                  </a:rPr>
                  <a:t>Adam optimizer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0" i="0" smtClean="0">
                        <a:latin typeface="Cambria Math" panose="02040503050406030204" pitchFamily="18" charset="0"/>
                        <a:cs typeface="+mn-cs"/>
                      </a:rPr>
                      <m:t>lr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+mn-cs"/>
                      </a:rPr>
                      <m:t>=3×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+mn-cs"/>
                          </a:rPr>
                          <m:t>10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+mn-cs"/>
                          </a:rPr>
                          <m:t>−4</m:t>
                        </m:r>
                      </m:sup>
                    </m:sSup>
                  </m:oMath>
                </a14:m>
                <a:endParaRPr lang="en-US" sz="1800" b="0" dirty="0">
                  <a:cs typeface="+mn-cs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800" b="0" dirty="0">
                    <a:cs typeface="+mn-cs"/>
                  </a:rPr>
                  <a:t>5000 epochs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1800" dirty="0">
                  <a:cs typeface="+mn-cs"/>
                </a:endParaRPr>
              </a:p>
              <a:p>
                <a:r>
                  <a:rPr lang="en-US" sz="2000" b="0" dirty="0">
                    <a:cs typeface="+mn-cs"/>
                  </a:rPr>
                  <a:t>Guided hard-enforcement ansatz:</a:t>
                </a:r>
              </a:p>
              <a:p>
                <a:endParaRPr lang="en-US" sz="2000" b="0" dirty="0">
                  <a:cs typeface="+mn-cs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+mn-cs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+mn-cs"/>
                        </a:rPr>
                        <m:t>𝜅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+mn-cs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+mn-cs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+mn-cs"/>
                            </a:rPr>
                            <m:t>1+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+mn-cs"/>
                            </a:rPr>
                            <m:t>𝑐𝑊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cs typeface="+mn-cs"/>
                                </a:rPr>
                                <m:t>tanh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2000" b="0" dirty="0">
                  <a:latin typeface="+mn-lt"/>
                  <a:cs typeface="+mn-cs"/>
                </a:endParaRPr>
              </a:p>
              <a:p>
                <a:endParaRPr lang="en-US" sz="2000" dirty="0">
                  <a:latin typeface="+mn-lt"/>
                  <a:cs typeface="+mn-cs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𝑃𝐷𝐸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soft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-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</m:oMath>
                  </m:oMathPara>
                </a14:m>
                <a:endParaRPr lang="en-US" sz="2000" b="0" dirty="0"/>
              </a:p>
              <a:p>
                <a:endParaRPr lang="en-US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𝐵𝐶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𝑟𝑜𝑏</m:t>
                          </m:r>
                        </m:sub>
                      </m:sSub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sub>
                          </m:sSub>
                        </m:sup>
                        <m:e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000" b="0" dirty="0"/>
              </a:p>
              <a:p>
                <a:endParaRPr lang="en-US" sz="2000" dirty="0">
                  <a:latin typeface="+mn-lt"/>
                  <a:cs typeface="+mn-cs"/>
                </a:endParaRP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EF0BE5E3-EC06-8D82-6F5B-3EFBF78BB4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761800" y="1468761"/>
                <a:ext cx="5334197" cy="4771319"/>
              </a:xfrm>
              <a:blipFill>
                <a:blip r:embed="rId2"/>
                <a:stretch>
                  <a:fillRect l="-1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BE286BC-178D-6492-2400-C322B4BAA95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r="4420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022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74791-A979-7842-749E-689F9EA6A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03E803-CCD1-FCFC-9C58-816791D015C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=0.0172±0.0040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03E803-CCD1-FCFC-9C58-816791D015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C2D0FEA-F04E-7E0C-5FB0-F2F8488E664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=0.0077±0.0007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C2D0FEA-F04E-7E0C-5FB0-F2F8488E66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9FD8B46A-1A4F-0B56-AA4A-46D8ABD9C1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995" y="1688194"/>
            <a:ext cx="5326294" cy="31502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D6901AF-4A20-DCC3-1C75-5C1E7B2EE7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05" y="1690688"/>
            <a:ext cx="5296795" cy="31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625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1447B-5959-1704-2B45-2EBFDACD8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Proposal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E8631-2E8F-3E85-86C1-2AE3599A9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Train a Physics Informed Neural Operator (PINO) to generate initial data for non-spinning BBH systems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PINO = FNO + PINN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BAFC2-63AB-BAB4-5A2C-B763817C6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390" y="3698393"/>
            <a:ext cx="6583220" cy="235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63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C10E7-BE31-AB51-78C3-DD3988A04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Proposal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1011F-2EE3-77D1-4D7C-13F325891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Parameterise relative masses of the blackholes</a:t>
            </a:r>
            <a:endParaRPr lang="en-US" dirty="0"/>
          </a:p>
          <a:p>
            <a:r>
              <a:rPr lang="en-GB" dirty="0"/>
              <a:t>Use same ansatz and loss functions developed by Zhou et. al</a:t>
            </a:r>
          </a:p>
          <a:p>
            <a:r>
              <a:rPr lang="en-GB" dirty="0"/>
              <a:t>Train on data generated from </a:t>
            </a:r>
            <a:r>
              <a:rPr lang="en-GB" dirty="0" err="1"/>
              <a:t>TwoPunctures</a:t>
            </a:r>
            <a:r>
              <a:rPr lang="en-GB" dirty="0"/>
              <a:t> program</a:t>
            </a:r>
          </a:p>
          <a:p>
            <a:r>
              <a:rPr lang="en-GB" dirty="0"/>
              <a:t>Predict gravitational field correction for unseen relative masses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Setup:</a:t>
            </a:r>
          </a:p>
          <a:p>
            <a:pPr lvl="1"/>
            <a:r>
              <a:rPr lang="en-GB" dirty="0"/>
              <a:t>Based on simple non-spinning equal-mass BBH system in Zhou et. al paper</a:t>
            </a:r>
          </a:p>
          <a:p>
            <a:pPr lvl="1"/>
            <a:r>
              <a:rPr lang="en-GB" dirty="0"/>
              <a:t>Blackholes 6 units of space apart orbiting centre of mass (</a:t>
            </a:r>
            <a:r>
              <a:rPr lang="en-GB" dirty="0" err="1"/>
              <a:t>CoM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Momentum of the blackholes scaled by relative masses</a:t>
            </a:r>
          </a:p>
        </p:txBody>
      </p:sp>
    </p:spTree>
    <p:extLst>
      <p:ext uri="{BB962C8B-B14F-4D97-AF65-F5344CB8AC3E}">
        <p14:creationId xmlns:p14="http://schemas.microsoft.com/office/powerpoint/2010/main" val="123638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9B72E-4E24-103C-7F25-1635E543F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Plan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C6C0D2-3539-C1FA-9848-1287440431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971550" lvl="1" indent="-514350">
                  <a:buFont typeface="+mj-lt"/>
                  <a:buAutoNum type="arabicPeriod"/>
                </a:pPr>
                <a:r>
                  <a:rPr lang="en-GB" dirty="0"/>
                  <a:t>Recreate the 2 non-spinning BBH system results from the Zhou et. al paper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GB" dirty="0"/>
                  <a:t>Train PINO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0.1</m:t>
                    </m:r>
                  </m:oMath>
                </a14:m>
                <a:r>
                  <a:rPr lang="en-US" b="0" dirty="0"/>
                  <a:t>, 0.2, 0.3, 0.4, 0.5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/>
                  <a:t>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b="0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0.25, 0.35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GB" dirty="0"/>
                  <a:t>Validate against</a:t>
                </a:r>
                <a:r>
                  <a:rPr lang="en-US" b="0" dirty="0"/>
                  <a:t> initial data generated from </a:t>
                </a:r>
                <a:r>
                  <a:rPr lang="en-US" b="0" dirty="0" err="1"/>
                  <a:t>TwoPunctures</a:t>
                </a:r>
                <a:r>
                  <a:rPr lang="en-US" b="0" dirty="0"/>
                  <a:t> program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Extension:</a:t>
                </a:r>
              </a:p>
              <a:p>
                <a:pPr lvl="1"/>
                <a:r>
                  <a:rPr lang="en-US" b="0" dirty="0"/>
                  <a:t>Test zero-shot super resolution capability of PINO</a:t>
                </a:r>
              </a:p>
              <a:p>
                <a:pPr lvl="1"/>
                <a:r>
                  <a:rPr lang="en-US" dirty="0"/>
                  <a:t>Train on coarse data from </a:t>
                </a:r>
                <a:r>
                  <a:rPr lang="en-US" dirty="0" err="1"/>
                  <a:t>TwoPunctures</a:t>
                </a:r>
                <a:endParaRPr lang="en-US" dirty="0"/>
              </a:p>
              <a:p>
                <a:pPr lvl="1"/>
                <a:r>
                  <a:rPr lang="en-US" b="0" dirty="0"/>
                  <a:t>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b="0" dirty="0"/>
                  <a:t> for higher-resolution grid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514350" indent="-514350">
                  <a:buFont typeface="+mj-lt"/>
                  <a:buAutoNum type="arabicPeriod"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C6C0D2-3539-C1FA-9848-1287440431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0865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4763-04CA-F15C-4DBE-7BB6D5CA8E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Thank you for listening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E03517-E1F6-709E-D5B6-068C6B4E25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Suggestions?</a:t>
            </a:r>
          </a:p>
        </p:txBody>
      </p:sp>
    </p:spTree>
    <p:extLst>
      <p:ext uri="{BB962C8B-B14F-4D97-AF65-F5344CB8AC3E}">
        <p14:creationId xmlns:p14="http://schemas.microsoft.com/office/powerpoint/2010/main" val="272395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60e6ab2-6354-404e-9a88-847fb2bd204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23269842FCFE4C926FFC0CE0BDA08F" ma:contentTypeVersion="17" ma:contentTypeDescription="Create a new document." ma:contentTypeScope="" ma:versionID="a449aeb03edf4b36beb1ef47adc967bc">
  <xsd:schema xmlns:xsd="http://www.w3.org/2001/XMLSchema" xmlns:xs="http://www.w3.org/2001/XMLSchema" xmlns:p="http://schemas.microsoft.com/office/2006/metadata/properties" xmlns:ns3="860e6ab2-6354-404e-9a88-847fb2bd2048" xmlns:ns4="91ad0b24-0272-4603-ace1-a43a5915fc07" targetNamespace="http://schemas.microsoft.com/office/2006/metadata/properties" ma:root="true" ma:fieldsID="cfcf027d79637e4cce1c3f5b860d73c0" ns3:_="" ns4:_="">
    <xsd:import namespace="860e6ab2-6354-404e-9a88-847fb2bd2048"/>
    <xsd:import namespace="91ad0b24-0272-4603-ace1-a43a5915fc0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LengthInSecond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0e6ab2-6354-404e-9a88-847fb2bd20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4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d0b24-0272-4603-ace1-a43a5915fc0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9DE79E-2FF1-49DD-85A0-E448B7AA003E}">
  <ds:schemaRefs>
    <ds:schemaRef ds:uri="http://purl.org/dc/elements/1.1/"/>
    <ds:schemaRef ds:uri="860e6ab2-6354-404e-9a88-847fb2bd2048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91ad0b24-0272-4603-ace1-a43a5915fc07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8FEC119-67F9-46D6-8377-0B0F029E8D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860e6ab2-6354-404e-9a88-847fb2bd2048"/>
    <ds:schemaRef ds:uri="91ad0b24-0272-4603-ace1-a43a5915fc07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00C5F2E-5EF9-4F24-9C34-9816DF19AD8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487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Cambria Math</vt:lpstr>
      <vt:lpstr>Times New Roman</vt:lpstr>
      <vt:lpstr>Office Theme</vt:lpstr>
      <vt:lpstr>Solving Hamiltonian Constraint Equation with Physics Informed Neural Operators</vt:lpstr>
      <vt:lpstr>Background</vt:lpstr>
      <vt:lpstr>Theory (1)</vt:lpstr>
      <vt:lpstr>Theory (2)</vt:lpstr>
      <vt:lpstr>Zhou et. al (PINN)</vt:lpstr>
      <vt:lpstr>Results</vt:lpstr>
      <vt:lpstr>Project Proposal (1)</vt:lpstr>
      <vt:lpstr>Project Proposal (2)</vt:lpstr>
      <vt:lpstr>Project Plan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Hamiltonian Constraint Equation with Physics Informed Neural Operators</dc:title>
  <dc:creator>Wu, Hilary H M</dc:creator>
  <cp:lastModifiedBy>Wu, Hilary H M</cp:lastModifiedBy>
  <cp:revision>2</cp:revision>
  <dcterms:created xsi:type="dcterms:W3CDTF">2026-07-15T07:10:59Z</dcterms:created>
  <dcterms:modified xsi:type="dcterms:W3CDTF">2026-07-16T06:45:12Z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0x010100C723269842FCFE4C926FFC0CE0BDA08F</vt:lpwstr>
  </property>
</Properties>
</file>